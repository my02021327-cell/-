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s5_image-1-11.svg" ContentType="image/svg+xml"/>
  <Override PartName="/ppt/media/s5_image-1-9.svg" ContentType="image/svg+xml"/>
  <Override PartName="/ppt/media/s6_image-1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9" r:id="rId5"/>
  </p:sldMasterIdLst>
  <p:notesMasterIdLst>
    <p:notesMasterId r:id="rId7"/>
  </p:notesMasterIdLst>
  <p:sldIdLst>
    <p:sldId id="256" r:id="rId9"/>
    <p:sldId id="258" r:id="rId10"/>
    <p:sldId id="264" r:id="rId11"/>
    <p:sldId id="259" r:id="rId12"/>
    <p:sldId id="260" r:id="rId13"/>
    <p:sldId id="261" r:id="rId14"/>
    <p:sldId id="262" r:id="rId15"/>
    <p:sldId id="265" r:id="rId8"/>
    <p:sldId id="263" r:id="rId16"/>
  </p:sldIdLst>
  <p:notesMasterIdLst/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openxmlformats.org/officeDocument/2006/relationships/font" Target="fonts/Pretendard-Regular.fntdata"/><Relationship Id="rId3" Type="http://schemas.openxmlformats.org/officeDocument/2006/relationships/font" Target="fonts/Pretendard-Bold.fntdata"/><Relationship Id="rId5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9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4" Type="http://schemas.openxmlformats.org/officeDocument/2006/relationships/viewProps" Target="viewProps.xml"/><Relationship Id="rId2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그린 아이디어톤에 참가한 메탄소년단 팀입니다. 저희가 제안하는 아이디어는 혐기성 소화조 메탄 생산 예측 및 관제 AI 시스템, BioGuard-AI입니다.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말 바이오가스법이 시행되면서 공공 및 민간의 바이오가스 의무생산이 시작되었습니다. 하지만 현재 혐기성 소화 공정은 다수의 복잡한 인자가 얽혀 있어, 운영자의 경험에만 의존해서는 효율적인 대응이 어려운 실정입니다.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이에 저희는 기존 센서 데이터를 100% 활용하는 AI 디지털트윈 솔루션 'BioGuard-AI'를 제안합니다. 실시간 센서값을 학습해 운전변수와 효율의 관계를 정량화하고, 메탄 발생량과 수율을 동시에 예측하여 선제적 대응을 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모델링의 신뢰성을 위해 영천 BGP 6년치 운영 데이터를 활용했습니다. 특히 발생량이 직접 계산되는 수식적 누수 문제를 사전에 차단하고, 유기물 부하율과 같은 핵심 변수를 기반으로 14일, 30일 시계열 패턴을 추출했습니다.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머신러닝과 딥러닝 4개 알고리즘을 베이스로 구축하고, 비음수 제약 스테킹을 메타 모델로 결합했습니다. 그 결과 발생량과 수율 모두 R-square 0.83 이상의 강력한 예측 성능을 확보했으며, 실무 적용의 안정성을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예측된 결과는 직관적인 신호등 대시보드 형태로 제공됩니다. 메탄 생성량 예측뿐만 아니라, 공정 산성화 지표를 실시간으로 모니터링하여 효율 저하가 발생하기 전에 조기 경보를 띄워줍니다.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BioGuard-AI는 대규모 투자 없이 기존 데이터를 100% 활용한다는 경제성이 가장 큰 강점입니다. 이를 통해 바이오가스 생산을 안정화하고, 탄소 중립에 기여하는 디지털 환경기초시설의 새로운 표준을 제시하겠습니다.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-1-2.svg"/><Relationship Id="rId5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2_image-1-1.png"/><Relationship Id="rId2" Type="http://schemas.openxmlformats.org/officeDocument/2006/relationships/image" Target="../media/s2_image-1-2.png"/><Relationship Id="rId3" Type="http://schemas.openxmlformats.org/officeDocument/2006/relationships/image" Target="../media/s2_image-1-3.png"/><Relationship Id="rId4" Type="http://schemas.openxmlformats.org/officeDocument/2006/relationships/image" Target="../media/s2_image-1-4.png"/><Relationship Id="rId5" Type="http://schemas.openxmlformats.org/officeDocument/2006/relationships/image" Target="../media/s2_image-1-5.png"/><Relationship Id="rId6" Type="http://schemas.openxmlformats.org/officeDocument/2006/relationships/image" Target="../media/s2_image-1-6.png"/><Relationship Id="rId7" Type="http://schemas.openxmlformats.org/officeDocument/2006/relationships/image" Target="../media/s2_image-1-7.png"/><Relationship Id="rId8" Type="http://schemas.openxmlformats.org/officeDocument/2006/relationships/image" Target="../media/s2_image-1-8.png"/><Relationship Id="rId10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mage328953344676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3_image-1-1.png"/><Relationship Id="rId2" Type="http://schemas.openxmlformats.org/officeDocument/2006/relationships/image" Target="../media/s3_image-1-2.png"/><Relationship Id="rId3" Type="http://schemas.openxmlformats.org/officeDocument/2006/relationships/image" Target="../media/s3_image-1-3.png"/><Relationship Id="rId4" Type="http://schemas.openxmlformats.org/officeDocument/2006/relationships/image" Target="../media/s3_image-1-4.png"/><Relationship Id="rId6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s4_image-1-3.png"/><Relationship Id="rId4" Type="http://schemas.openxmlformats.org/officeDocument/2006/relationships/image" Target="../media/s4_image-1-4.png"/><Relationship Id="rId5" Type="http://schemas.openxmlformats.org/officeDocument/2006/relationships/image" Target="../media/s4_image-1-5.png"/><Relationship Id="rId6" Type="http://schemas.openxmlformats.org/officeDocument/2006/relationships/image" Target="../media/s4_image-1-6.png"/><Relationship Id="rId7" Type="http://schemas.openxmlformats.org/officeDocument/2006/relationships/image" Target="../media/s4_image-1-7.png"/><Relationship Id="rId8" Type="http://schemas.openxmlformats.org/officeDocument/2006/relationships/image" Target="../media/s4_image-1-8.png"/><Relationship Id="rId9" Type="http://schemas.openxmlformats.org/officeDocument/2006/relationships/image" Target="../media/s4_image-1-9.png"/><Relationship Id="rId10" Type="http://schemas.openxmlformats.org/officeDocument/2006/relationships/image" Target="../media/s4_image-1-10.png"/><Relationship Id="rId11" Type="http://schemas.openxmlformats.org/officeDocument/2006/relationships/image" Target="../media/s4_image-1-11.png"/><Relationship Id="rId13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5_image-1-1.png"/><Relationship Id="rId2" Type="http://schemas.openxmlformats.org/officeDocument/2006/relationships/image" Target="../media/s5_image-1-2.png"/><Relationship Id="rId3" Type="http://schemas.openxmlformats.org/officeDocument/2006/relationships/image" Target="../media/s5_image-1-3.png"/><Relationship Id="rId4" Type="http://schemas.openxmlformats.org/officeDocument/2006/relationships/image" Target="../media/s5_image-1-4.png"/><Relationship Id="rId5" Type="http://schemas.openxmlformats.org/officeDocument/2006/relationships/image" Target="../media/s5_image-1-5.png"/><Relationship Id="rId6" Type="http://schemas.openxmlformats.org/officeDocument/2006/relationships/image" Target="../media/s5_image-1-6.png"/><Relationship Id="rId7" Type="http://schemas.openxmlformats.org/officeDocument/2006/relationships/image" Target="../media/s5_image-1-7.png"/><Relationship Id="rId8" Type="http://schemas.openxmlformats.org/officeDocument/2006/relationships/image" Target="../media/s5_image-1-8.png"/><Relationship Id="rId9" Type="http://schemas.openxmlformats.org/officeDocument/2006/relationships/image" Target="../media/s5_image-1-9.svg"/><Relationship Id="rId10" Type="http://schemas.openxmlformats.org/officeDocument/2006/relationships/image" Target="../media/s5_image-1-10.png"/><Relationship Id="rId11" Type="http://schemas.openxmlformats.org/officeDocument/2006/relationships/image" Target="../media/s5_image-1-11.svg"/><Relationship Id="rId13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6_image-1-1.png"/><Relationship Id="rId2" Type="http://schemas.openxmlformats.org/officeDocument/2006/relationships/image" Target="../media/s6_image-1-2.png"/><Relationship Id="rId3" Type="http://schemas.openxmlformats.org/officeDocument/2006/relationships/image" Target="../media/s6_image-1-3.png"/><Relationship Id="rId4" Type="http://schemas.openxmlformats.org/officeDocument/2006/relationships/image" Target="../media/s6_image-1-4.png"/><Relationship Id="rId5" Type="http://schemas.openxmlformats.org/officeDocument/2006/relationships/image" Target="../media/s6_image-1-5.png"/><Relationship Id="rId7" Type="http://schemas.openxmlformats.org/officeDocument/2006/relationships/image" Target="../media/s6_image-1-7.svg"/><Relationship Id="rId9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7_image-1-1.png"/><Relationship Id="rId2" Type="http://schemas.openxmlformats.org/officeDocument/2006/relationships/image" Target="../media/s7_image-1-2.png"/><Relationship Id="rId3" Type="http://schemas.openxmlformats.org/officeDocument/2006/relationships/image" Target="../media/s7_image-1-3.png"/><Relationship Id="rId4" Type="http://schemas.openxmlformats.org/officeDocument/2006/relationships/image" Target="../media/s7_image-1-4.png"/><Relationship Id="rId5" Type="http://schemas.openxmlformats.org/officeDocument/2006/relationships/image" Target="../media/s7_image-1-5.png"/><Relationship Id="rId6" Type="http://schemas.openxmlformats.org/officeDocument/2006/relationships/image" Target="../media/s7_image-1-6.png"/><Relationship Id="rId8" Type="http://schemas.openxmlformats.org/officeDocument/2006/relationships/notesSlide" Target="../notesSlides/notesSlide8.xml"/><Relationship Id="rId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6086475"/>
            <a:ext cx="10668000" cy="390525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1186160" y="6286500"/>
            <a:ext cx="35052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33" dirty="0"/>
          </a:p>
        </p:txBody>
      </p:sp>
      <p:sp>
        <p:nvSpPr>
          <p:cNvPr id="7" name="Shape 5"/>
          <p:cNvSpPr>
            <a:spLocks/>
          </p:cNvSpPr>
          <p:nvPr/>
        </p:nvSpPr>
        <p:spPr>
          <a:xfrm rot="0">
            <a:off x="11292205" y="1736725"/>
            <a:ext cx="114935" cy="114935"/>
          </a:xfrm>
          <a:prstGeom prst="ellipse"/>
          <a:solidFill>
            <a:srgbClr val="4ECDC4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Shape 6"/>
          <p:cNvSpPr>
            <a:spLocks/>
          </p:cNvSpPr>
          <p:nvPr/>
        </p:nvSpPr>
        <p:spPr>
          <a:xfrm rot="0">
            <a:off x="736600" y="1736725"/>
            <a:ext cx="7039610" cy="3162935"/>
          </a:xfrm>
          <a:prstGeom prst="roundRect">
            <a:avLst>
              <a:gd name="adj" fmla="val 1858"/>
            </a:avLst>
          </a:prstGeom>
          <a:solidFill>
            <a:srgbClr val="1A1A2E"/>
          </a:solidFill>
          <a:ln cap="flat" cmpd="sng">
            <a:prstDash/>
          </a:ln>
          <a:effectLst>
            <a:outerShdw sx="100000" sy="100000" blurRad="142875" dist="28575" dir="5400000" rotWithShape="0" algn="bl">
              <a:srgbClr val="1A1A2E">
                <a:alpha val="3921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Shape 7"/>
          <p:cNvSpPr>
            <a:spLocks/>
          </p:cNvSpPr>
          <p:nvPr/>
        </p:nvSpPr>
        <p:spPr>
          <a:xfrm rot="0">
            <a:off x="736600" y="1736725"/>
            <a:ext cx="7039610" cy="38735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" name="Text 8"/>
          <p:cNvSpPr>
            <a:spLocks/>
          </p:cNvSpPr>
          <p:nvPr/>
        </p:nvSpPr>
        <p:spPr>
          <a:xfrm rot="0">
            <a:off x="1102360" y="2193925"/>
            <a:ext cx="6920230" cy="381635"/>
          </a:xfrm>
          <a:prstGeom prst="roundRect">
            <a:avLst>
              <a:gd name="adj" fmla="val 40000"/>
            </a:avLst>
          </a:prstGeom>
          <a:solidFill>
            <a:srgbClr val="4ECDC4"/>
          </a:solidFill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 algn="l">
              <a:spcAft>
                <a:spcPts val="1800"/>
              </a:spcAft>
              <a:buFontTx/>
              <a:buNone/>
            </a:pPr>
            <a:r>
              <a:rPr lang="en-US" sz="12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AI 혁신 솔루션</a:t>
            </a:r>
            <a:endParaRPr lang="ko-KR" altLang="en-US" sz="120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2" name="Text 9"/>
          <p:cNvSpPr>
            <a:spLocks/>
          </p:cNvSpPr>
          <p:nvPr/>
        </p:nvSpPr>
        <p:spPr>
          <a:xfrm rot="0">
            <a:off x="1102360" y="2803525"/>
            <a:ext cx="6920230" cy="762635"/>
          </a:xfrm>
          <a:prstGeom prst="rect"/>
          <a:ln cap="flat" cmpd="sng">
            <a:prstDash/>
          </a:ln>
        </p:spPr>
        <p:txBody>
          <a:bodyPr wrap="none" lIns="91440" tIns="0" rIns="91440" bIns="0" numCol="1" vert="horz" anchor="t">
            <a:spAutoFit/>
          </a:bodyPr>
          <a:lstStyle/>
          <a:p>
            <a:pPr marL="0" indent="0" algn="l">
              <a:lnSpc>
                <a:spcPts val="6000"/>
              </a:lnSpc>
              <a:spcAft>
                <a:spcPts val="900"/>
              </a:spcAft>
              <a:buFontTx/>
              <a:buNone/>
            </a:pPr>
            <a:r>
              <a:rPr lang="en-US" sz="5330" b="1">
                <a:solidFill>
                  <a:srgbClr val="FFFFFF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BioGuard-AI</a:t>
            </a:r>
            <a:endParaRPr lang="ko-KR" altLang="en-US" sz="5330" b="1">
              <a:solidFill>
                <a:srgbClr val="FFFFFF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3" name="Text 10"/>
          <p:cNvSpPr>
            <a:spLocks/>
          </p:cNvSpPr>
          <p:nvPr/>
        </p:nvSpPr>
        <p:spPr>
          <a:xfrm rot="0">
            <a:off x="1102360" y="3679825"/>
            <a:ext cx="6920230" cy="76263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2000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혐기성 소화조 메탄 생산 예측 및</a:t>
            </a:r>
            <a:endParaRPr lang="ko-KR" altLang="en-US" sz="2000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</a:pPr>
            <a:r>
              <a:rPr lang="en-US" sz="2000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신호등 관제 AI 시스템</a:t>
            </a:r>
            <a:endParaRPr lang="ko-KR" altLang="en-US" sz="2000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1"/>
          <p:cNvSpPr>
            <a:spLocks/>
          </p:cNvSpPr>
          <p:nvPr/>
        </p:nvSpPr>
        <p:spPr>
          <a:xfrm rot="0">
            <a:off x="8004174" y="1736725"/>
            <a:ext cx="3401060" cy="3162935"/>
          </a:xfrm>
          <a:prstGeom prst="roundRect">
            <a:avLst>
              <a:gd name="adj" fmla="val 1858"/>
            </a:avLst>
          </a:prstGeom>
          <a:solidFill>
            <a:srgbClr val="F1F5F9"/>
          </a:solidFill>
          <a:ln w="6985" cap="flat" cmpd="sng">
            <a:solidFill>
              <a:srgbClr val="E5E7EB">
                <a:alpha val="100000"/>
              </a:srgbClr>
            </a:solidFill>
            <a:prstDash val="solid"/>
          </a:ln>
          <a:effectLst>
            <a:outerShdw sx="100000" sy="100000" blurRad="142875" dist="28575" dir="5400000" rotWithShape="0" algn="bl">
              <a:srgbClr val="1A1A2E">
                <a:alpha val="3921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5" name="Shape 12"/>
          <p:cNvSpPr>
            <a:spLocks/>
          </p:cNvSpPr>
          <p:nvPr/>
        </p:nvSpPr>
        <p:spPr>
          <a:xfrm rot="0">
            <a:off x="8013700" y="1746250"/>
            <a:ext cx="3382010" cy="38735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6" name="Text 13"/>
          <p:cNvSpPr>
            <a:spLocks/>
          </p:cNvSpPr>
          <p:nvPr/>
        </p:nvSpPr>
        <p:spPr>
          <a:xfrm rot="0">
            <a:off x="8227060" y="2651125"/>
            <a:ext cx="3232150" cy="19113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1200"/>
              </a:spcAft>
              <a:buFontTx/>
              <a:buNone/>
            </a:pPr>
            <a:r>
              <a:rPr lang="en-US" sz="930" b="1">
                <a:solidFill>
                  <a:srgbClr val="64748B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DEVELOPMENT TEAM</a:t>
            </a:r>
            <a:endParaRPr lang="ko-KR" altLang="en-US" sz="930" b="1">
              <a:solidFill>
                <a:srgbClr val="64748B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7" name="Text 14"/>
          <p:cNvSpPr>
            <a:spLocks/>
          </p:cNvSpPr>
          <p:nvPr/>
        </p:nvSpPr>
        <p:spPr>
          <a:xfrm rot="0">
            <a:off x="8227060" y="2994025"/>
            <a:ext cx="3232150" cy="43878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spcAft>
                <a:spcPts val="1500"/>
              </a:spcAft>
              <a:buFontTx/>
              <a:buNone/>
            </a:pPr>
            <a:r>
              <a:rPr lang="en-US" sz="24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메탄소년단</a:t>
            </a:r>
            <a:endParaRPr lang="ko-KR" altLang="en-US" sz="240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 15"/>
          <p:cNvSpPr>
            <a:spLocks/>
          </p:cNvSpPr>
          <p:nvPr/>
        </p:nvSpPr>
        <p:spPr>
          <a:xfrm rot="0">
            <a:off x="8280400" y="3568700"/>
            <a:ext cx="3232150" cy="36258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>
                <a:latin typeface="프리젠테이션 6 SemiBold" charset="0"/>
                <a:ea typeface="프리젠테이션 6 SemiBold" charset="0"/>
              </a:rPr>
              <a:t>충남대학교</a:t>
            </a:r>
            <a:endParaRPr lang="ko-KR" altLang="en-US">
              <a:latin typeface="프리젠테이션 6 SemiBold" charset="0"/>
              <a:ea typeface="프리젠테이션 6 SemiBold" charset="0"/>
            </a:endParaRPr>
          </a:p>
          <a:p>
            <a:pPr marL="0" indent="0" algn="l">
              <a:buFontTx/>
              <a:buNone/>
            </a:pPr>
            <a:r>
              <a:rPr>
                <a:latin typeface="프리젠테이션 9 Black" charset="0"/>
                <a:ea typeface="프리젠테이션 9 Black" charset="0"/>
              </a:rPr>
              <a:t>임진우 이재환 김태윤</a:t>
            </a:r>
            <a:endParaRPr lang="ko-KR" altLang="en-US">
              <a:latin typeface="프리젠테이션 9 Black" charset="0"/>
              <a:ea typeface="프리젠테이션 9 Black" charset="0"/>
            </a:endParaRPr>
          </a:p>
        </p:txBody>
      </p:sp>
      <p:sp>
        <p:nvSpPr>
          <p:cNvPr id="20" name="Shape 17"/>
          <p:cNvSpPr>
            <a:spLocks/>
          </p:cNvSpPr>
          <p:nvPr/>
        </p:nvSpPr>
        <p:spPr>
          <a:xfrm rot="0">
            <a:off x="748030" y="5137150"/>
            <a:ext cx="10649585" cy="38735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70560" y="476250"/>
            <a:ext cx="1191831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lIns="91440" tIns="0" rIns="91440" bIns="0" numCol="1" vert="horz" anchor="ctr">
            <a:normAutofit fontScale="100000" lnSpcReduction="0"/>
          </a:bodyPr>
          <a:lstStyle/>
          <a:p>
            <a:pPr marL="0" indent="0" algn="l">
              <a:spcAft>
                <a:spcPts val="6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BACKGROUND &amp; ISSUES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857250"/>
            <a:ext cx="11917680" cy="571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 및 문제점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733550"/>
            <a:ext cx="4000500" cy="4800600"/>
          </a:xfrm>
          <a:prstGeom prst="roundRect">
            <a:avLst>
              <a:gd name="adj" fmla="val 116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733550"/>
            <a:ext cx="40005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2000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23545"/>
          </a:solidFill>
          <a:ln/>
        </p:spPr>
      </p:sp>
      <p:pic>
        <p:nvPicPr>
          <p:cNvPr id="8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2152650"/>
            <a:ext cx="28575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7260" y="2762250"/>
            <a:ext cx="3996690" cy="685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정책적 변화와</a:t>
            </a:r>
            <a:pPr algn="l" indent="0" marL="0">
              <a:buNone/>
            </a:pPr>
            <a:endParaRPr lang="en-US" sz="1867" dirty="0"/>
          </a:p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강화</a:t>
            </a:r>
            <a:endParaRPr lang="en-US" sz="1867" dirty="0"/>
          </a:p>
        </p:txBody>
      </p:sp>
      <p:pic>
        <p:nvPicPr>
          <p:cNvPr id="10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733800"/>
            <a:ext cx="114300" cy="133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7260" y="3905250"/>
            <a:ext cx="3745230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2023년 12월 '바이오가스법' 본격 시행</a:t>
            </a:r>
            <a:endParaRPr lang="en-US" sz="1333" dirty="0"/>
          </a:p>
        </p:txBody>
      </p:sp>
      <p:pic>
        <p:nvPicPr>
          <p:cNvPr id="12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419600"/>
            <a:ext cx="114300" cy="1333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7260" y="4591050"/>
            <a:ext cx="3745230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및 민간 부문 생산목표율 의무화</a:t>
            </a:r>
            <a:endParaRPr lang="en-US" sz="1333" dirty="0"/>
          </a:p>
        </p:txBody>
      </p:sp>
      <p:pic>
        <p:nvPicPr>
          <p:cNvPr id="14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105400"/>
            <a:ext cx="114300" cy="1333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7260" y="5276850"/>
            <a:ext cx="3745230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안정적인 생산효율 확보를 위한 기술 요구 증대</a:t>
            </a:r>
            <a:endParaRPr lang="en-US" sz="1333" dirty="0"/>
          </a:p>
        </p:txBody>
      </p:sp>
      <p:sp>
        <p:nvSpPr>
          <p:cNvPr id="16" name="Shape 10"/>
          <p:cNvSpPr/>
          <p:nvPr/>
        </p:nvSpPr>
        <p:spPr>
          <a:xfrm>
            <a:off x="4991100" y="1733550"/>
            <a:ext cx="3105150" cy="22860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000625" y="1743075"/>
            <a:ext cx="308610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18" name="Text 12"/>
          <p:cNvSpPr/>
          <p:nvPr/>
        </p:nvSpPr>
        <p:spPr>
          <a:xfrm>
            <a:off x="5175885" y="2009775"/>
            <a:ext cx="2990850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ISSUE 01</a:t>
            </a:r>
            <a:endParaRPr lang="en-US" sz="933" dirty="0"/>
          </a:p>
        </p:txBody>
      </p:sp>
      <p:sp>
        <p:nvSpPr>
          <p:cNvPr id="19" name="Text 13"/>
          <p:cNvSpPr/>
          <p:nvPr/>
        </p:nvSpPr>
        <p:spPr>
          <a:xfrm>
            <a:off x="5175885" y="2305050"/>
            <a:ext cx="2990850" cy="342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다변수 공정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175885" y="2847975"/>
            <a:ext cx="2823210" cy="51435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온도, pH, OLR, VFA 등 수많은 인자의</a:t>
            </a:r>
            <a:endParaRPr lang="en-US" sz="1333" dirty="0"/>
          </a:p>
        </p:txBody>
      </p:sp>
      <p:pic>
        <p:nvPicPr>
          <p:cNvPr id="21" name="Image 4" descr="/Users/JinU-Lim/Library/Group Containers/L48J367XN4.com.infraware.PolarisOffice/EngineTemp/35779/s2_image-1-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80"/>
          <a:stretch>
            <a:fillRect/>
          </a:stretch>
        </p:blipFill>
        <p:spPr>
          <a:xfrm rot="0">
            <a:off x="5838190" y="3105785"/>
            <a:ext cx="1560830" cy="267335"/>
          </a:xfrm>
          <a:prstGeom prst="rect"/>
          <a:noFill/>
        </p:spPr>
      </p:pic>
      <p:sp>
        <p:nvSpPr>
          <p:cNvPr id="22" name="Text 15"/>
          <p:cNvSpPr>
            <a:spLocks/>
          </p:cNvSpPr>
          <p:nvPr/>
        </p:nvSpPr>
        <p:spPr>
          <a:xfrm rot="0">
            <a:off x="5189855" y="3382010"/>
            <a:ext cx="2708275" cy="248284"/>
          </a:xfrm>
          <a:prstGeom prst="rect"/>
          <a:noFill/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spcBef>
                <a:spcPts val="600"/>
              </a:spcBef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이 발생하여 변수 통제가 어려움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8324850" y="1733550"/>
            <a:ext cx="3105150" cy="22860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334375" y="1743075"/>
            <a:ext cx="308610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25" name="Text 18"/>
          <p:cNvSpPr/>
          <p:nvPr/>
        </p:nvSpPr>
        <p:spPr>
          <a:xfrm>
            <a:off x="8509635" y="2009775"/>
            <a:ext cx="2990850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ISSUE 02</a:t>
            </a:r>
            <a:endParaRPr lang="en-US" sz="933" dirty="0"/>
          </a:p>
        </p:txBody>
      </p:sp>
      <p:sp>
        <p:nvSpPr>
          <p:cNvPr id="26" name="Text 19"/>
          <p:cNvSpPr/>
          <p:nvPr/>
        </p:nvSpPr>
        <p:spPr>
          <a:xfrm>
            <a:off x="8509635" y="2305050"/>
            <a:ext cx="2990850" cy="342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예측 불가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509635" y="2847975"/>
            <a:ext cx="2886075" cy="51435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변수의 변화만으로 전체 공정의 효율을</a:t>
            </a:r>
            <a:endParaRPr lang="en-US" sz="1333" dirty="0"/>
          </a:p>
        </p:txBody>
      </p:sp>
      <p:pic>
        <p:nvPicPr>
          <p:cNvPr id="28" name="Image 5" descr="/Users/JinU-Lim/Library/Group Containers/L48J367XN4.com.infraware.PolarisOffice/EngineTemp/35779/s2_image-1-6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56"/>
          <a:stretch>
            <a:fillRect/>
          </a:stretch>
        </p:blipFill>
        <p:spPr>
          <a:xfrm rot="0">
            <a:off x="9704070" y="3105785"/>
            <a:ext cx="1308735" cy="267335"/>
          </a:xfrm>
          <a:prstGeom prst="rect"/>
          <a:noFill/>
        </p:spPr>
      </p:pic>
      <p:sp>
        <p:nvSpPr>
          <p:cNvPr id="29" name="Text 21"/>
          <p:cNvSpPr>
            <a:spLocks/>
          </p:cNvSpPr>
          <p:nvPr/>
        </p:nvSpPr>
        <p:spPr>
          <a:xfrm rot="0">
            <a:off x="8509635" y="3362960"/>
            <a:ext cx="1534795" cy="248284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spcBef>
                <a:spcPts val="600"/>
              </a:spcBef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하기에</a:t>
            </a: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는</a:t>
            </a: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 한계 존재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4991100" y="4248150"/>
            <a:ext cx="64389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000625" y="4257675"/>
            <a:ext cx="64198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32" name="Text 24"/>
          <p:cNvSpPr/>
          <p:nvPr/>
        </p:nvSpPr>
        <p:spPr>
          <a:xfrm>
            <a:off x="5175885" y="4524375"/>
            <a:ext cx="4855845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ISSUE 03</a:t>
            </a:r>
            <a:endParaRPr lang="en-US" sz="933" dirty="0"/>
          </a:p>
        </p:txBody>
      </p:sp>
      <p:sp>
        <p:nvSpPr>
          <p:cNvPr id="33" name="Text 25"/>
          <p:cNvSpPr/>
          <p:nvPr/>
        </p:nvSpPr>
        <p:spPr>
          <a:xfrm>
            <a:off x="5175885" y="4819650"/>
            <a:ext cx="4855845" cy="342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867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의존적 관리의 한계</a:t>
            </a:r>
            <a:endParaRPr lang="en-US" sz="1867" dirty="0"/>
          </a:p>
        </p:txBody>
      </p:sp>
      <p:sp>
        <p:nvSpPr>
          <p:cNvPr id="34" name="Text 26"/>
          <p:cNvSpPr/>
          <p:nvPr/>
        </p:nvSpPr>
        <p:spPr>
          <a:xfrm>
            <a:off x="5175885" y="5286375"/>
            <a:ext cx="4824095" cy="51435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방대한 센서 데이터가 수집됨에도 불구하고, 데이터 해석의 어려움으로 인해</a:t>
            </a:r>
            <a:endParaRPr lang="en-US" sz="1333" dirty="0"/>
          </a:p>
        </p:txBody>
      </p:sp>
      <p:pic>
        <p:nvPicPr>
          <p:cNvPr id="35" name="Image 6" descr="/Users/JinU-Lim/Library/Group Containers/L48J367XN4.com.infraware.PolarisOffice/EngineTemp/35779/s2_image-1-7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32245" y="5544185"/>
            <a:ext cx="1553210" cy="248284"/>
          </a:xfrm>
          <a:prstGeom prst="rect"/>
          <a:noFill/>
        </p:spPr>
      </p:pic>
      <p:sp>
        <p:nvSpPr>
          <p:cNvPr id="36" name="Text 27"/>
          <p:cNvSpPr>
            <a:spLocks/>
          </p:cNvSpPr>
          <p:nvPr/>
        </p:nvSpPr>
        <p:spPr>
          <a:xfrm rot="0">
            <a:off x="5189855" y="5810250"/>
            <a:ext cx="2477770" cy="248284"/>
          </a:xfrm>
          <a:prstGeom prst="rect"/>
          <a:noFill/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spcBef>
                <a:spcPts val="600"/>
              </a:spcBef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에 전적으로 의존하는 구조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9820275" y="4524375"/>
            <a:ext cx="1333500" cy="1333500"/>
          </a:xfrm>
          <a:prstGeom prst="roundRect">
            <a:avLst>
              <a:gd name="adj" fmla="val 7837"/>
            </a:avLst>
          </a:prstGeom>
          <a:solidFill>
            <a:srgbClr val="F8FAFC"/>
          </a:solidFill>
          <a:ln/>
        </p:spPr>
      </p:sp>
      <p:pic>
        <p:nvPicPr>
          <p:cNvPr id="38" name="Image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2225" y="4886325"/>
            <a:ext cx="609600" cy="6096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376660" y="6286500"/>
            <a:ext cx="35052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33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3" descr="/Users/JinU-Lim/Library/Group Containers/L48J367XN4.com.infraware.PolarisOffice/EngineTemp/35779/fImage328953344676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83945" y="1146810"/>
            <a:ext cx="9961245" cy="4739640"/>
          </a:xfrm>
          <a:prstGeom prst="rect"/>
          <a:noFill/>
        </p:spPr>
      </p:pic>
      <p:sp>
        <p:nvSpPr>
          <p:cNvPr id="3" name="도형 32"/>
          <p:cNvSpPr>
            <a:spLocks/>
          </p:cNvSpPr>
          <p:nvPr/>
        </p:nvSpPr>
        <p:spPr>
          <a:xfrm rot="0">
            <a:off x="670560" y="476250"/>
            <a:ext cx="1191831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cap="flat" cmpd="sng">
            <a:prstDash/>
          </a:ln>
        </p:spPr>
        <p:txBody>
          <a:bodyPr wrap="square" lIns="91440" tIns="0" rIns="91440" bIns="0" numCol="1" vert="horz" anchor="ctr">
            <a:normAutofit fontScale="100000" lnSpcReduction="0"/>
          </a:bodyPr>
          <a:lstStyle/>
          <a:p>
            <a:pPr marL="0" indent="0" algn="l">
              <a:spcAft>
                <a:spcPts val="6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영천 혐기성 소화조 Real Data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-5080" y="-17780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71195" y="476250"/>
            <a:ext cx="1755140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 algn="ctr">
              <a:spcAft>
                <a:spcPts val="9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PROPOSAL IDEA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895350"/>
            <a:ext cx="7045325" cy="6096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67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아이디어: BioGuard-AI</a:t>
            </a:r>
            <a:endParaRPr lang="en-US" sz="3867" dirty="0"/>
          </a:p>
        </p:txBody>
      </p:sp>
      <p:sp>
        <p:nvSpPr>
          <p:cNvPr id="8" name="Shape 6"/>
          <p:cNvSpPr/>
          <p:nvPr/>
        </p:nvSpPr>
        <p:spPr>
          <a:xfrm>
            <a:off x="760095" y="1790700"/>
            <a:ext cx="7038975" cy="2095500"/>
          </a:xfrm>
          <a:prstGeom prst="roundRect">
            <a:avLst>
              <a:gd name="adj" fmla="val 423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0095" y="1790700"/>
            <a:ext cx="7038975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10" name="Text 8"/>
          <p:cNvSpPr>
            <a:spLocks/>
          </p:cNvSpPr>
          <p:nvPr/>
        </p:nvSpPr>
        <p:spPr>
          <a:xfrm rot="0">
            <a:off x="1049655" y="2057400"/>
            <a:ext cx="6503035" cy="1958340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ct val="114999"/>
              </a:lnSpc>
              <a:buFontTx/>
              <a:buNone/>
            </a:pP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AI 기반 디지털트윈</a:t>
            </a: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(</a:t>
            </a:r>
            <a:r>
              <a:rPr lang="en-US" sz="2800" b="0">
                <a:solidFill>
                  <a:srgbClr val="FFFFFF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Digital Twin</a:t>
            </a: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)</a:t>
            </a: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  </a:t>
            </a:r>
            <a:r>
              <a:rPr lang="en-US" sz="28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실시간 관제 시스템</a:t>
            </a:r>
            <a:r>
              <a:rPr lang="en-US" sz="2400"/>
              <a:t/>
            </a:r>
            <a:br>
              <a:rPr lang="en-US" sz="2400"/>
            </a:br>
            <a:r>
              <a:rPr lang="en-US" sz="1400" b="1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현장 센서 데이터를 100% 활용하여 실제 소화조를 </a:t>
            </a:r>
            <a:endParaRPr lang="ko-KR" altLang="en-US" sz="1400" b="1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2251"/>
              </a:lnSpc>
              <a:buFontTx/>
              <a:buNone/>
            </a:pPr>
            <a:r>
              <a:rPr lang="en-US" sz="1400" b="1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가상으로 재현하고, 최적의 의사결정을 지원합니다.</a:t>
            </a:r>
            <a:endParaRPr lang="ko-KR" altLang="en-US" sz="1400" b="1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Shape 9"/>
          <p:cNvSpPr>
            <a:spLocks/>
          </p:cNvSpPr>
          <p:nvPr/>
        </p:nvSpPr>
        <p:spPr>
          <a:xfrm rot="0">
            <a:off x="6654800" y="2487295"/>
            <a:ext cx="762635" cy="762635"/>
          </a:xfrm>
          <a:prstGeom prst="roundRect">
            <a:avLst>
              <a:gd name="adj" fmla="val 6000"/>
            </a:avLst>
          </a:prstGeom>
          <a:solidFill>
            <a:srgbClr val="2D2D44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12" name="Image 0" descr="/Users/JinU-Lim/Library/Group Containers/L48J367XN4.com.infraware.PolarisOffice/EngineTemp/35779/s3_image-1-1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864350" y="2696845"/>
            <a:ext cx="343535" cy="343535"/>
          </a:xfrm>
          <a:prstGeom prst="rect"/>
          <a:noFill/>
        </p:spPr>
      </p:pic>
      <p:sp>
        <p:nvSpPr>
          <p:cNvPr id="13" name="Shape 10"/>
          <p:cNvSpPr/>
          <p:nvPr/>
        </p:nvSpPr>
        <p:spPr>
          <a:xfrm>
            <a:off x="8027670" y="1790700"/>
            <a:ext cx="3400425" cy="20955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37195" y="1800225"/>
            <a:ext cx="3381375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8302625" y="2066925"/>
            <a:ext cx="495300" cy="419100"/>
          </a:xfrm>
          <a:prstGeom prst="roundRect">
            <a:avLst>
              <a:gd name="adj" fmla="val 19835"/>
            </a:avLst>
          </a:prstGeom>
          <a:solidFill>
            <a:srgbClr val="E0F2F1"/>
          </a:solidFill>
          <a:ln/>
        </p:spPr>
      </p:sp>
      <p:pic>
        <p:nvPicPr>
          <p:cNvPr id="16" name="Image 1" descr="/Users/JinU-Lim/Library/Group Containers/L48J367XN4.com.infraware.PolarisOffice/EngineTemp/35779/s3_image-1-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50580" y="2166620"/>
            <a:ext cx="210185" cy="210185"/>
          </a:xfrm>
          <a:prstGeom prst="rect"/>
          <a:noFill/>
        </p:spPr>
      </p:pic>
      <p:sp>
        <p:nvSpPr>
          <p:cNvPr id="17" name="Text 13"/>
          <p:cNvSpPr/>
          <p:nvPr/>
        </p:nvSpPr>
        <p:spPr>
          <a:xfrm>
            <a:off x="8212455" y="2676525"/>
            <a:ext cx="3315335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spcAft>
                <a:spcPts val="1051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비선형 관계 정량화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212455" y="3114675"/>
            <a:ext cx="3315335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운전변수(OLR, VFA 등)와 생산효율 간의 복잡한 상관관계를 AI로 학습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60095" y="4114800"/>
            <a:ext cx="7038975" cy="20955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69620" y="4124325"/>
            <a:ext cx="7019925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21" name="Text 17"/>
          <p:cNvSpPr/>
          <p:nvPr/>
        </p:nvSpPr>
        <p:spPr>
          <a:xfrm>
            <a:off x="944880" y="4548505"/>
            <a:ext cx="5118100" cy="122936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MULTI-OUTPUT SYSTEM</a:t>
            </a:r>
            <a:r>
              <a:rPr lang="en-US" sz="930"/>
              <a:t/>
            </a:r>
            <a:br>
              <a:rPr lang="en-US" sz="930"/>
            </a:br>
            <a:r>
              <a:rPr lang="en-US" sz="16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메탄 발생량 및 수율 동시 추정</a:t>
            </a:r>
            <a:r>
              <a:rPr lang="en-US" sz="1200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200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발생량(N</a:t>
            </a:r>
            <a:r>
              <a:rPr sz="1200" i="0" b="0">
                <a:solidFill>
                  <a:srgbClr val="202122"/>
                </a:solidFill>
                <a:latin typeface="sans-serif" charset="0"/>
                <a:ea typeface="sans-serif" charset="0"/>
              </a:rPr>
              <a:t>m</a:t>
            </a:r>
            <a:r>
              <a:rPr sz="1019" baseline="30000" i="0" b="0">
                <a:solidFill>
                  <a:srgbClr val="202122"/>
                </a:solidFill>
                <a:latin typeface="sans-serif" charset="0"/>
                <a:ea typeface="sans-serif" charset="0"/>
              </a:rPr>
              <a:t>3</a:t>
            </a: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)과 수율(N</a:t>
            </a:r>
            <a:r>
              <a:rPr sz="1200" i="0" b="0">
                <a:solidFill>
                  <a:srgbClr val="202122"/>
                </a:solidFill>
                <a:latin typeface="sans-serif" charset="0"/>
                <a:ea typeface="sans-serif" charset="0"/>
              </a:rPr>
              <a:t>m</a:t>
            </a:r>
            <a:r>
              <a:rPr sz="1019" baseline="30000" i="0" b="0">
                <a:solidFill>
                  <a:srgbClr val="202122"/>
                </a:solidFill>
                <a:latin typeface="sans-serif" charset="0"/>
                <a:ea typeface="sans-serif" charset="0"/>
              </a:rPr>
              <a:t>3</a:t>
            </a: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/kgVS)을 동시에 예측하여 생산 공정의 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입체적 분석을 가능하게 합니다.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807075" y="4591050"/>
            <a:ext cx="1714500" cy="11430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3" name="Text 19"/>
          <p:cNvSpPr/>
          <p:nvPr/>
        </p:nvSpPr>
        <p:spPr>
          <a:xfrm>
            <a:off x="6186805" y="4633595"/>
            <a:ext cx="1031240" cy="1524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METHANE VOL.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186805" y="4785995"/>
            <a:ext cx="1031875" cy="276860"/>
          </a:xfrm>
          <a:prstGeom prst="rect">
            <a:avLst/>
          </a:prstGeom>
          <a:ln/>
        </p:spPr>
        <p:txBody>
          <a:bodyPr wrap="none" lIns="91440" tIns="0" rIns="9144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en-US" sz="1465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N</a:t>
            </a:r>
            <a:r>
              <a:rPr sz="1200" i="0" b="1">
                <a:solidFill>
                  <a:srgbClr val="202122"/>
                </a:solidFill>
                <a:latin typeface="sans-serif" charset="0"/>
                <a:ea typeface="sans-serif" charset="0"/>
              </a:rPr>
              <a:t>m</a:t>
            </a:r>
            <a:r>
              <a:rPr sz="1019" baseline="30000" i="0" b="1">
                <a:solidFill>
                  <a:srgbClr val="202122"/>
                </a:solidFill>
                <a:latin typeface="sans-serif" charset="0"/>
                <a:ea typeface="sans-serif" charset="0"/>
              </a:rPr>
              <a:t>3</a:t>
            </a:r>
            <a:endParaRPr lang="ko-KR" altLang="en-US" sz="1465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473825" y="5158105"/>
            <a:ext cx="3810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2"/>
          <p:cNvSpPr/>
          <p:nvPr/>
        </p:nvSpPr>
        <p:spPr>
          <a:xfrm>
            <a:off x="6091555" y="5262880"/>
            <a:ext cx="1240790" cy="1524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YIELD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091555" y="5415280"/>
            <a:ext cx="1241425" cy="276860"/>
          </a:xfrm>
          <a:prstGeom prst="rect">
            <a:avLst/>
          </a:prstGeom>
          <a:ln/>
        </p:spPr>
        <p:txBody>
          <a:bodyPr wrap="none" lIns="91440" tIns="0" rIns="9144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en-US" sz="1465" b="1">
                <a:solidFill>
                  <a:srgbClr val="4ECDC4"/>
                </a:solidFill>
                <a:latin typeface="나눔고딕 ExtraBold" charset="0"/>
                <a:ea typeface="나눔고딕 ExtraBold" charset="0"/>
                <a:cs typeface="Pretendard" charset="0"/>
              </a:rPr>
              <a:t>N</a:t>
            </a:r>
            <a:r>
              <a:rPr sz="1200" i="0" b="1">
                <a:solidFill>
                  <a:srgbClr val="73CBC4"/>
                </a:solidFill>
                <a:latin typeface="나눔고딕 ExtraBold" charset="0"/>
                <a:ea typeface="나눔고딕 ExtraBold" charset="0"/>
              </a:rPr>
              <a:t>m</a:t>
            </a:r>
            <a:r>
              <a:rPr sz="1019" baseline="30000" i="0" b="1">
                <a:solidFill>
                  <a:srgbClr val="73CBC4"/>
                </a:solidFill>
                <a:latin typeface="나눔고딕 ExtraBold" charset="0"/>
                <a:ea typeface="나눔고딕 ExtraBold" charset="0"/>
              </a:rPr>
              <a:t>3</a:t>
            </a:r>
            <a:r>
              <a:rPr lang="en-US" sz="1465" b="1">
                <a:solidFill>
                  <a:srgbClr val="4ECDC4"/>
                </a:solidFill>
                <a:latin typeface="Pretendard" charset="0"/>
                <a:ea typeface="Pretendard" charset="0"/>
                <a:cs typeface="Pretendard" charset="0"/>
              </a:rPr>
              <a:t>/kgVS</a:t>
            </a:r>
            <a:endParaRPr lang="ko-KR" altLang="en-US" sz="1465" b="1">
              <a:solidFill>
                <a:srgbClr val="4ECDC4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8027670" y="4114800"/>
            <a:ext cx="3400425" cy="20955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37195" y="4124325"/>
            <a:ext cx="3381375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30" name="Shape 26"/>
          <p:cNvSpPr>
            <a:spLocks/>
          </p:cNvSpPr>
          <p:nvPr/>
        </p:nvSpPr>
        <p:spPr>
          <a:xfrm rot="0">
            <a:off x="8302625" y="4364990"/>
            <a:ext cx="495934" cy="282575"/>
          </a:xfrm>
          <a:prstGeom prst="roundRect">
            <a:avLst>
              <a:gd name="adj" fmla="val 72727"/>
            </a:avLst>
          </a:prstGeom>
          <a:solidFill>
            <a:srgbClr val="E0E7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31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0" y="4391025"/>
            <a:ext cx="209550" cy="2095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212455" y="4791075"/>
            <a:ext cx="3315335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spcAft>
                <a:spcPts val="1051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대응 체계 구축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212455" y="5229225"/>
            <a:ext cx="3315335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추세 예측을 통해 시행착오를 축소하고 조기 안정화를 실현합니다.</a:t>
            </a:r>
            <a:endParaRPr lang="en-US" sz="1200" dirty="0"/>
          </a:p>
        </p:txBody>
      </p:sp>
      <p:pic>
        <p:nvPicPr>
          <p:cNvPr id="35" name="Image 3" descr="/Users/JinU-Lim/Library/Group Containers/L48J367XN4.com.infraware.PolarisOffice/EngineTemp/35779/s3_image-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959215" y="4452620"/>
            <a:ext cx="114935" cy="133985"/>
          </a:xfrm>
          <a:prstGeom prst="rect"/>
          <a:noFill/>
        </p:spPr>
      </p:pic>
      <p:sp>
        <p:nvSpPr>
          <p:cNvPr id="36" name="Text 30"/>
          <p:cNvSpPr>
            <a:spLocks/>
          </p:cNvSpPr>
          <p:nvPr/>
        </p:nvSpPr>
        <p:spPr>
          <a:xfrm rot="0">
            <a:off x="9058275" y="4424045"/>
            <a:ext cx="1252220" cy="191135"/>
          </a:xfrm>
          <a:prstGeom prst="rect"/>
          <a:ln cap="flat" cmpd="sng">
            <a:prstDash/>
          </a:ln>
        </p:spPr>
        <p:txBody>
          <a:bodyPr wrap="none" lIns="91440" tIns="0" rIns="91440" bIns="0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Pretendard" charset="0"/>
                <a:ea typeface="Pretendard" charset="0"/>
                <a:cs typeface="Pretendard" charset="0"/>
              </a:rPr>
              <a:t>PREDICTIVE AI</a:t>
            </a:r>
            <a:endParaRPr lang="ko-KR" altLang="en-US" sz="930" b="1">
              <a:solidFill>
                <a:srgbClr val="4ECDC4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도형 16"/>
          <p:cNvSpPr>
            <a:spLocks/>
          </p:cNvSpPr>
          <p:nvPr/>
        </p:nvSpPr>
        <p:spPr>
          <a:xfrm rot="0">
            <a:off x="8847455" y="4333875"/>
            <a:ext cx="1486535" cy="324485"/>
          </a:xfrm>
          <a:prstGeom prst="roundRect">
            <a:avLst>
              <a:gd name="adj" fmla="val 22145"/>
            </a:avLst>
          </a:prstGeom>
          <a:solidFill>
            <a:srgbClr val="EDFAF9"/>
          </a:solidFill>
          <a:ln w="6985" cap="flat" cmpd="sng">
            <a:solidFill>
              <a:srgbClr val="4ECDC4">
                <a:alpha val="29803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38" name="그림 17" descr="/Users/JinU-Lim/Library/Group Containers/L48J367XN4.com.infraware.PolarisOffice/EngineTemp/35779/s3_image-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09380" y="4429125"/>
            <a:ext cx="114935" cy="133985"/>
          </a:xfrm>
          <a:prstGeom prst="rect"/>
          <a:noFill/>
        </p:spPr>
      </p:pic>
      <p:sp>
        <p:nvSpPr>
          <p:cNvPr id="39" name="도형 18"/>
          <p:cNvSpPr>
            <a:spLocks/>
          </p:cNvSpPr>
          <p:nvPr/>
        </p:nvSpPr>
        <p:spPr>
          <a:xfrm rot="0">
            <a:off x="9101455" y="4422775"/>
            <a:ext cx="1252220" cy="191135"/>
          </a:xfrm>
          <a:prstGeom prst="rect"/>
          <a:ln cap="flat" cmpd="sng">
            <a:prstDash/>
          </a:ln>
        </p:spPr>
        <p:txBody>
          <a:bodyPr wrap="none" lIns="91440" tIns="0" rIns="91440" bIns="0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PREDICTIVE AI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chemeClr val="bg1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33" dirty="0"/>
          </a:p>
        </p:txBody>
      </p:sp>
      <p:sp>
        <p:nvSpPr>
          <p:cNvPr id="4" name="Text 2"/>
          <p:cNvSpPr/>
          <p:nvPr/>
        </p:nvSpPr>
        <p:spPr>
          <a:xfrm>
            <a:off x="669290" y="476250"/>
            <a:ext cx="170243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 algn="ctr">
              <a:spcAft>
                <a:spcPts val="6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METHODOLOGY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0560" y="857250"/>
            <a:ext cx="11917680" cy="5715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및 전처리 고도화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62000" y="1733550"/>
            <a:ext cx="10668000" cy="2095500"/>
          </a:xfrm>
          <a:prstGeom prst="roundRect">
            <a:avLst>
              <a:gd name="adj" fmla="val 423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733550"/>
            <a:ext cx="106680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" y="2000250"/>
            <a:ext cx="2524125" cy="1562100"/>
          </a:xfrm>
          <a:prstGeom prst="roundRect">
            <a:avLst>
              <a:gd name="adj" fmla="val 5711"/>
            </a:avLst>
          </a:prstGeom>
          <a:solidFill>
            <a:srgbClr val="252538"/>
          </a:solidFill>
          <a:ln/>
        </p:spPr>
      </p:sp>
      <p:sp>
        <p:nvSpPr>
          <p:cNvPr id="9" name="Text 7"/>
          <p:cNvSpPr>
            <a:spLocks/>
          </p:cNvSpPr>
          <p:nvPr/>
        </p:nvSpPr>
        <p:spPr>
          <a:xfrm rot="0">
            <a:off x="762635" y="2338705"/>
            <a:ext cx="2959735" cy="61023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spAutoFit/>
          </a:bodyPr>
          <a:lstStyle/>
          <a:p>
            <a:pPr marL="0" indent="0" algn="ctr">
              <a:lnSpc>
                <a:spcPts val="4800"/>
              </a:lnSpc>
              <a:buFontTx/>
              <a:buNone/>
            </a:pPr>
            <a:r>
              <a:rPr lang="en-US" sz="41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1,191Set</a:t>
            </a:r>
            <a:endParaRPr lang="ko-KR" altLang="en-US" sz="41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0" name="Text 8"/>
          <p:cNvSpPr>
            <a:spLocks/>
          </p:cNvSpPr>
          <p:nvPr/>
        </p:nvSpPr>
        <p:spPr>
          <a:xfrm rot="0">
            <a:off x="811530" y="3004185"/>
            <a:ext cx="2959735" cy="22923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ctr">
              <a:spcBef>
                <a:spcPts val="300"/>
              </a:spcBef>
              <a:buFontTx/>
              <a:buNone/>
            </a:pPr>
            <a:r>
              <a:rPr lang="en-US" sz="1200" b="1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실측 데이터 확보</a:t>
            </a:r>
            <a:endParaRPr lang="ko-KR" altLang="en-US" sz="1200" b="1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2385" y="2000250"/>
            <a:ext cx="8135620" cy="3054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FontTx/>
              <a:buNone/>
            </a:pPr>
            <a:r>
              <a:rPr lang="en-US" sz="173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학습 데이터 확보</a:t>
            </a:r>
            <a:endParaRPr lang="ko-KR" altLang="en-US" sz="173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42385" y="2705100"/>
            <a:ext cx="7894955" cy="248284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E2E8F0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en-US" sz="1200">
                <a:solidFill>
                  <a:srgbClr val="E2E8F0"/>
                </a:solidFill>
                <a:latin typeface="Pretendard" charset="0"/>
                <a:ea typeface="Pretendard" charset="0"/>
                <a:cs typeface="Pretendard" charset="0"/>
              </a:rPr>
              <a:t>영천 BGP 통합 혐기성 소화조 (2018년~2023년) 6개년 데이터</a:t>
            </a:r>
            <a:endParaRPr lang="ko-KR" altLang="en-US" sz="1200">
              <a:solidFill>
                <a:srgbClr val="E2E8F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5" name="Text 11"/>
          <p:cNvSpPr>
            <a:spLocks/>
          </p:cNvSpPr>
          <p:nvPr/>
        </p:nvSpPr>
        <p:spPr>
          <a:xfrm rot="0">
            <a:off x="3855720" y="3027680"/>
            <a:ext cx="7863205" cy="248284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E2E8F0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en-US" sz="1200">
                <a:solidFill>
                  <a:srgbClr val="E2E8F0"/>
                </a:solidFill>
                <a:latin typeface="Pretendard" charset="0"/>
                <a:ea typeface="Pretendard" charset="0"/>
                <a:cs typeface="Pretendard" charset="0"/>
              </a:rPr>
              <a:t>결측치가 많은 변수는 제거, 소량 결측은 </a:t>
            </a:r>
            <a:r>
              <a:rPr lang="en-US" sz="1200" b="1">
                <a:solidFill>
                  <a:srgbClr val="4ECDC4"/>
                </a:solidFill>
                <a:latin typeface="Pretendard" charset="0"/>
                <a:ea typeface="Pretendard" charset="0"/>
                <a:cs typeface="Pretendard" charset="0"/>
              </a:rPr>
              <a:t>선형 보간</a:t>
            </a:r>
            <a:r>
              <a:rPr lang="en-US" sz="1200">
                <a:solidFill>
                  <a:srgbClr val="E2E8F0"/>
                </a:solidFill>
                <a:latin typeface="Pretendard" charset="0"/>
                <a:ea typeface="Pretendard" charset="0"/>
                <a:cs typeface="Pretendard" charset="0"/>
              </a:rPr>
              <a:t> 수행</a:t>
            </a:r>
            <a:endParaRPr lang="ko-KR" altLang="en-US" sz="1200">
              <a:solidFill>
                <a:srgbClr val="E2E8F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62635" y="4057650"/>
            <a:ext cx="4743450" cy="24765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2160" y="4067175"/>
            <a:ext cx="472440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18" name="Shape 14"/>
          <p:cNvSpPr/>
          <p:nvPr/>
        </p:nvSpPr>
        <p:spPr>
          <a:xfrm>
            <a:off x="1036320" y="4333875"/>
            <a:ext cx="371475" cy="419100"/>
          </a:xfrm>
          <a:prstGeom prst="roundRect">
            <a:avLst>
              <a:gd name="adj" fmla="val 21039"/>
            </a:avLst>
          </a:prstGeom>
          <a:solidFill>
            <a:srgbClr val="FEE2E2"/>
          </a:solidFill>
          <a:ln/>
        </p:spPr>
      </p:sp>
      <p:pic>
        <p:nvPicPr>
          <p:cNvPr id="19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90" y="4448175"/>
            <a:ext cx="190500" cy="190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4310" y="4391025"/>
            <a:ext cx="4227195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누수 차단</a:t>
            </a:r>
            <a:endParaRPr lang="en-US" sz="1733" dirty="0"/>
          </a:p>
        </p:txBody>
      </p:sp>
      <p:pic>
        <p:nvPicPr>
          <p:cNvPr id="21" name="Image 3" descr="/Users/JinU-Lim/Library/Group Containers/L48J367XN4.com.infraware.PolarisOffice/EngineTemp/35779/s4_image-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40130" y="4943475"/>
            <a:ext cx="876935" cy="495934"/>
          </a:xfrm>
          <a:prstGeom prst="rect"/>
          <a:noFill/>
        </p:spPr>
      </p:pic>
      <p:sp>
        <p:nvSpPr>
          <p:cNvPr id="22" name="Text 16"/>
          <p:cNvSpPr/>
          <p:nvPr/>
        </p:nvSpPr>
        <p:spPr>
          <a:xfrm>
            <a:off x="1941829" y="4943475"/>
            <a:ext cx="3557270" cy="486410"/>
          </a:xfrm>
          <a:prstGeom prst="rect">
            <a:avLst/>
          </a:prstGeom>
          <a:noFill/>
          <a:ln/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1951"/>
              </a:lnSpc>
              <a:spcAft>
                <a:spcPts val="900"/>
              </a:spcAft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생성량 = 가스발생량 × 메탄함량 관계 제거로 미래 정보 유입 원천 차단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1038860" y="5553075"/>
            <a:ext cx="4191000" cy="95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4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5676900"/>
            <a:ext cx="1066800" cy="2476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127885" y="5676900"/>
            <a:ext cx="2571750" cy="238125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상관분석을 통한 핵심 인자 추출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6785" y="6076950"/>
            <a:ext cx="2037715" cy="267335"/>
          </a:xfrm>
          <a:prstGeom prst="roundRect">
            <a:avLst>
              <a:gd name="adj" fmla="val 24490"/>
            </a:avLst>
          </a:prstGeom>
          <a:solidFill>
            <a:srgbClr val="E2E8F0"/>
          </a:solidFill>
          <a:ln/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유기물부하율(OLR) -</a:t>
            </a: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0.67</a:t>
            </a:r>
            <a:endParaRPr lang="ko-KR" altLang="en-US" sz="930" b="1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2708910" y="6076950"/>
            <a:ext cx="1315085" cy="267335"/>
          </a:xfrm>
          <a:prstGeom prst="roundRect">
            <a:avLst>
              <a:gd name="adj" fmla="val 24490"/>
            </a:avLst>
          </a:prstGeom>
          <a:solidFill>
            <a:srgbClr val="E2E8F0"/>
          </a:solidFill>
          <a:ln/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투입 VS -</a:t>
            </a: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930" b="1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0.78</a:t>
            </a:r>
            <a:endParaRPr lang="ko-KR" altLang="en-US" sz="930" b="1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813810" y="6076950"/>
            <a:ext cx="1010285" cy="266700"/>
          </a:xfrm>
          <a:prstGeom prst="roundRect">
            <a:avLst>
              <a:gd name="adj" fmla="val 24490"/>
            </a:avLst>
          </a:prstGeom>
          <a:solidFill>
            <a:srgbClr val="E2E8F0"/>
          </a:solidFill>
          <a:ln/>
        </p:spPr>
        <p:txBody>
          <a:bodyPr wrap="none" lIns="91440" tIns="0" rIns="9144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VFA/ALK</a:t>
            </a:r>
            <a:endParaRPr lang="en-US" sz="933" dirty="0"/>
          </a:p>
        </p:txBody>
      </p:sp>
      <p:sp>
        <p:nvSpPr>
          <p:cNvPr id="29" name="Shape 22"/>
          <p:cNvSpPr/>
          <p:nvPr/>
        </p:nvSpPr>
        <p:spPr>
          <a:xfrm>
            <a:off x="5734685" y="4057650"/>
            <a:ext cx="5695950" cy="247650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744210" y="4067175"/>
            <a:ext cx="567690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31" name="Shape 24"/>
          <p:cNvSpPr/>
          <p:nvPr/>
        </p:nvSpPr>
        <p:spPr>
          <a:xfrm>
            <a:off x="6014085" y="4333875"/>
            <a:ext cx="371475" cy="419100"/>
          </a:xfrm>
          <a:prstGeom prst="roundRect">
            <a:avLst>
              <a:gd name="adj" fmla="val 21039"/>
            </a:avLst>
          </a:prstGeom>
          <a:solidFill>
            <a:srgbClr val="E0F2FE"/>
          </a:solidFill>
          <a:ln/>
        </p:spPr>
      </p:sp>
      <p:pic>
        <p:nvPicPr>
          <p:cNvPr id="32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890" y="4448175"/>
            <a:ext cx="190500" cy="1905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50330" y="4391025"/>
            <a:ext cx="5253990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 패턴 반영</a:t>
            </a:r>
            <a:endParaRPr lang="en-US" sz="1733" dirty="0"/>
          </a:p>
        </p:txBody>
      </p:sp>
      <p:pic>
        <p:nvPicPr>
          <p:cNvPr id="34" name="Image 6" descr="/Users/JinU-Lim/Library/Group Containers/L48J367XN4.com.infraware.PolarisOffice/EngineTemp/35779/s4_image-1-7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86805" y="5123815"/>
            <a:ext cx="105410" cy="114935"/>
          </a:xfrm>
          <a:prstGeom prst="rect"/>
          <a:noFill/>
        </p:spPr>
      </p:pic>
      <p:sp>
        <p:nvSpPr>
          <p:cNvPr id="35" name="Text 26"/>
          <p:cNvSpPr>
            <a:spLocks/>
          </p:cNvSpPr>
          <p:nvPr/>
        </p:nvSpPr>
        <p:spPr>
          <a:xfrm rot="0">
            <a:off x="6095365" y="5276215"/>
            <a:ext cx="2572385" cy="238760"/>
          </a:xfrm>
          <a:prstGeom prst="rect"/>
          <a:noFill/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연속적인 공정 특성 반영을 위한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6" name="Image 7" descr="/Users/JinU-Lim/Library/Group Containers/L48J367XN4.com.infraware.PolarisOffice/EngineTemp/35779/s4_image-1-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86805" y="5523865"/>
            <a:ext cx="1029335" cy="238760"/>
          </a:xfrm>
          <a:prstGeom prst="rect"/>
          <a:noFill/>
        </p:spPr>
      </p:pic>
      <p:sp>
        <p:nvSpPr>
          <p:cNvPr id="37" name="Text 27"/>
          <p:cNvSpPr>
            <a:spLocks/>
          </p:cNvSpPr>
          <p:nvPr/>
        </p:nvSpPr>
        <p:spPr>
          <a:xfrm rot="0">
            <a:off x="7179310" y="5533390"/>
            <a:ext cx="518795" cy="238760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생성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40" name="Image 9" descr="/Users/JinU-Lim/Library/Group Containers/L48J367XN4.com.infraware.PolarisOffice/EngineTemp/35779/s4_image-1-10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166860" y="5476875"/>
            <a:ext cx="1267460" cy="238760"/>
          </a:xfrm>
          <a:prstGeom prst="rect"/>
          <a:noFill/>
        </p:spPr>
      </p:pic>
      <p:sp>
        <p:nvSpPr>
          <p:cNvPr id="41" name="Text 29"/>
          <p:cNvSpPr>
            <a:spLocks/>
          </p:cNvSpPr>
          <p:nvPr/>
        </p:nvSpPr>
        <p:spPr>
          <a:xfrm rot="0">
            <a:off x="10361295" y="5477510"/>
            <a:ext cx="518795" cy="238760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적용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42" name="Image 10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2180" y="7229475"/>
            <a:ext cx="104775" cy="11430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919470" y="7381875"/>
            <a:ext cx="5599430" cy="24765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이력 기반의 동적 피처 엔지니어링 수행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6014085" y="7820025"/>
            <a:ext cx="1209675" cy="304800"/>
          </a:xfrm>
          <a:prstGeom prst="roundRect">
            <a:avLst>
              <a:gd name="adj" fmla="val 12500"/>
            </a:avLst>
          </a:prstGeom>
          <a:solidFill>
            <a:srgbClr val="CBD5E1"/>
          </a:solidFill>
          <a:ln/>
        </p:spPr>
      </p:sp>
      <p:sp>
        <p:nvSpPr>
          <p:cNvPr id="45" name="Shape 32"/>
          <p:cNvSpPr/>
          <p:nvPr/>
        </p:nvSpPr>
        <p:spPr>
          <a:xfrm>
            <a:off x="7323455" y="7820025"/>
            <a:ext cx="1209675" cy="304800"/>
          </a:xfrm>
          <a:prstGeom prst="roundRect">
            <a:avLst>
              <a:gd name="adj" fmla="val 12500"/>
            </a:avLst>
          </a:prstGeom>
          <a:solidFill>
            <a:srgbClr val="4ECDC4"/>
          </a:solidFill>
          <a:ln/>
        </p:spPr>
      </p:sp>
      <p:sp>
        <p:nvSpPr>
          <p:cNvPr id="46" name="Shape 33"/>
          <p:cNvSpPr/>
          <p:nvPr/>
        </p:nvSpPr>
        <p:spPr>
          <a:xfrm>
            <a:off x="8632825" y="7820025"/>
            <a:ext cx="1209675" cy="304800"/>
          </a:xfrm>
          <a:prstGeom prst="roundRect">
            <a:avLst>
              <a:gd name="adj" fmla="val 12500"/>
            </a:avLst>
          </a:prstGeom>
          <a:solidFill>
            <a:srgbClr val="CBD5E1"/>
          </a:solidFill>
          <a:ln/>
        </p:spPr>
      </p:sp>
      <p:sp>
        <p:nvSpPr>
          <p:cNvPr id="47" name="Shape 34"/>
          <p:cNvSpPr/>
          <p:nvPr/>
        </p:nvSpPr>
        <p:spPr>
          <a:xfrm>
            <a:off x="9942195" y="7820025"/>
            <a:ext cx="1209675" cy="304800"/>
          </a:xfrm>
          <a:prstGeom prst="roundRect">
            <a:avLst>
              <a:gd name="adj" fmla="val 12500"/>
            </a:avLst>
          </a:prstGeom>
          <a:solidFill>
            <a:srgbClr val="CBD5E1"/>
          </a:solidFill>
          <a:ln/>
        </p:spPr>
      </p:sp>
      <p:pic>
        <p:nvPicPr>
          <p:cNvPr id="48" name="그림 28" descr="/Users/JinU-Lim/Library/Group Containers/L48J367XN4.com.infraware.PolarisOffice/EngineTemp/35779/s4_image-1-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166860" y="5085715"/>
            <a:ext cx="105410" cy="114935"/>
          </a:xfrm>
          <a:prstGeom prst="rect"/>
          <a:noFill/>
        </p:spPr>
      </p:pic>
      <p:sp>
        <p:nvSpPr>
          <p:cNvPr id="49" name="도형 29"/>
          <p:cNvSpPr>
            <a:spLocks/>
          </p:cNvSpPr>
          <p:nvPr/>
        </p:nvSpPr>
        <p:spPr>
          <a:xfrm rot="0">
            <a:off x="9075420" y="5238115"/>
            <a:ext cx="1367155" cy="238760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7일, 14일, 30일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70560" y="476250"/>
            <a:ext cx="1191831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lIns="91440" tIns="0" rIns="91440" bIns="0" numCol="1" vert="horz" anchor="ctr">
            <a:normAutofit fontScale="100000" lnSpcReduction="0"/>
          </a:bodyPr>
          <a:lstStyle/>
          <a:p>
            <a:pPr marL="0" indent="0" algn="l">
              <a:spcAft>
                <a:spcPts val="9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AI MODELING RESULTS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895350"/>
            <a:ext cx="11917680" cy="571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메타-AI 앙상블 모델링 성과</a:t>
            </a:r>
            <a:endParaRPr lang="en-US" sz="36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 rot="0">
            <a:off x="762000" y="1809750"/>
            <a:ext cx="4191635" cy="4801235"/>
          </a:xfrm>
          <a:prstGeom prst="roundRect">
            <a:avLst>
              <a:gd name="adj" fmla="val 1058"/>
            </a:avLst>
          </a:prstGeom>
          <a:solidFill>
            <a:srgbClr val="1A1A2E"/>
          </a:solidFill>
          <a:ln cap="flat" cmpd="sng">
            <a:prstDash/>
          </a:ln>
          <a:effectLst>
            <a:outerShdw sx="100000" sy="100000" blurRad="142875" dist="28575" dir="5400000" rotWithShape="0" algn="bl">
              <a:srgbClr val="1A1A2E">
                <a:alpha val="3921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2000" y="1809750"/>
            <a:ext cx="41910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230949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43E4C"/>
          </a:solidFill>
          <a:ln/>
        </p:spPr>
      </p:sp>
      <p:pic>
        <p:nvPicPr>
          <p:cNvPr id="8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2461895"/>
            <a:ext cx="257175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7259" y="3071495"/>
            <a:ext cx="4206875" cy="18161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6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MAIN ARCHITECTURE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37259" y="3329305"/>
            <a:ext cx="4206875" cy="6864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1864" b="1">
                <a:solidFill>
                  <a:srgbClr val="FFFFFF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Meta-AI</a:t>
            </a:r>
            <a:r>
              <a:rPr lang="en-US" sz="1864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 앙상블</a:t>
            </a:r>
            <a:endParaRPr lang="ko-KR" altLang="en-US" sz="1864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2700"/>
              </a:lnSpc>
              <a:spcAft>
                <a:spcPts val="1500"/>
              </a:spcAft>
              <a:buFontTx/>
              <a:buNone/>
            </a:pPr>
            <a:r>
              <a:rPr lang="en-US" sz="1864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(NNLS 스태킹)</a:t>
            </a:r>
            <a:endParaRPr lang="ko-KR" altLang="en-US" sz="1864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11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62120"/>
            <a:ext cx="13335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4910" y="4205605"/>
            <a:ext cx="3934460" cy="248284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1951"/>
              </a:lnSpc>
              <a:buFontTx/>
              <a:buNone/>
            </a:pPr>
            <a:r>
              <a:rPr lang="en-US" sz="1200">
                <a:solidFill>
                  <a:srgbClr val="FFFFFF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RF, MLP, LSTM, Transformer</a:t>
            </a:r>
            <a:r>
              <a:rPr lang="en-US" sz="1200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 결과 결합</a:t>
            </a:r>
            <a:endParaRPr lang="ko-KR" altLang="en-US" sz="1200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13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662805"/>
            <a:ext cx="13335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4910" y="4605020"/>
            <a:ext cx="3933825" cy="24765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비음수 제약(NNLS) 선형결합으로 과적합 방지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37259" y="5176520"/>
            <a:ext cx="2111375" cy="934085"/>
          </a:xfrm>
          <a:prstGeom prst="roundRect">
            <a:avLst>
              <a:gd name="adj" fmla="val 3998"/>
            </a:avLst>
          </a:prstGeom>
          <a:solidFill>
            <a:srgbClr val="252538"/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2000" b="1">
                <a:solidFill>
                  <a:srgbClr val="4ECDC4"/>
                </a:solidFill>
                <a:latin typeface="Pretendard" charset="0"/>
                <a:ea typeface="Pretendard" charset="0"/>
                <a:cs typeface="Pretendard" charset="0"/>
              </a:rPr>
              <a:t>0.833</a:t>
            </a:r>
            <a:r>
              <a:rPr lang="en-US" sz="2000"/>
              <a:t/>
            </a:r>
            <a:br>
              <a:rPr lang="en-US" sz="2000"/>
            </a:br>
            <a:r>
              <a:rPr lang="en-US" sz="930" b="1">
                <a:solidFill>
                  <a:srgbClr val="A0A0B0"/>
                </a:solidFill>
                <a:latin typeface="Pretendard" charset="0"/>
                <a:ea typeface="Pretendard" charset="0"/>
                <a:cs typeface="Pretendard" charset="0"/>
              </a:rPr>
              <a:t>발생량 R²</a:t>
            </a:r>
            <a:endParaRPr lang="ko-KR" altLang="en-US" sz="930" b="1">
              <a:solidFill>
                <a:srgbClr val="A0A0B0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2842260" y="5176520"/>
            <a:ext cx="2110740" cy="933450"/>
          </a:xfrm>
          <a:prstGeom prst="roundRect">
            <a:avLst>
              <a:gd name="adj" fmla="val 3998"/>
            </a:avLst>
          </a:prstGeom>
          <a:solidFill>
            <a:srgbClr val="252538"/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  <p:txBody>
          <a:bodyPr wrap="none" lIns="91440" tIns="0" rIns="9144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0.830</a:t>
            </a:r>
            <a:pPr algn="l" indent="0" marL="0">
              <a:buNone/>
            </a:pPr>
            <a:br/>
            <a:pPr algn="l" indent="0" marL="0">
              <a:buNone/>
            </a:pPr>
            <a:r>
              <a:rPr lang="en-US" sz="933" b="1" dirty="0">
                <a:solidFill>
                  <a:srgbClr val="A0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R²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181600" y="1809750"/>
            <a:ext cx="6248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91125" y="1819275"/>
            <a:ext cx="62293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19" name="Text 14"/>
          <p:cNvSpPr/>
          <p:nvPr/>
        </p:nvSpPr>
        <p:spPr>
          <a:xfrm>
            <a:off x="5366385" y="2085975"/>
            <a:ext cx="6448425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 REVIEW</a:t>
            </a:r>
            <a:endParaRPr lang="en-US" sz="933" dirty="0"/>
          </a:p>
        </p:txBody>
      </p:sp>
      <p:sp>
        <p:nvSpPr>
          <p:cNvPr id="20" name="Text 15"/>
          <p:cNvSpPr/>
          <p:nvPr/>
        </p:nvSpPr>
        <p:spPr>
          <a:xfrm>
            <a:off x="5366385" y="2343150"/>
            <a:ext cx="6448425" cy="342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베이스 모델 성능 분석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59095" y="2838450"/>
            <a:ext cx="1771650" cy="990600"/>
          </a:xfrm>
          <a:prstGeom prst="rect">
            <a:avLst/>
          </a:prstGeom>
          <a:ln/>
        </p:spPr>
      </p:sp>
      <p:sp>
        <p:nvSpPr>
          <p:cNvPr id="22" name="Text 17"/>
          <p:cNvSpPr/>
          <p:nvPr/>
        </p:nvSpPr>
        <p:spPr>
          <a:xfrm>
            <a:off x="5367655" y="2838450"/>
            <a:ext cx="1869440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367655" y="3143250"/>
            <a:ext cx="1869440" cy="6858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다변수 트리에 강점 보유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(수율 R² 0.820 달성)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538720" y="2838450"/>
            <a:ext cx="1771650" cy="990600"/>
          </a:xfrm>
          <a:prstGeom prst="rect">
            <a:avLst/>
          </a:prstGeom>
          <a:ln/>
        </p:spPr>
      </p:sp>
      <p:sp>
        <p:nvSpPr>
          <p:cNvPr id="25" name="Text 20"/>
          <p:cNvSpPr/>
          <p:nvPr/>
        </p:nvSpPr>
        <p:spPr>
          <a:xfrm>
            <a:off x="7447280" y="2838450"/>
            <a:ext cx="1869440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 / Transformer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447280" y="3143250"/>
            <a:ext cx="1869440" cy="6858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 패턴 처리 능력 우수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(R² 0.4~0.6 수준)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527540" y="2838450"/>
            <a:ext cx="1869440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 Factor</a:t>
            </a:r>
            <a:endParaRPr lang="en-US" sz="1200" dirty="0"/>
          </a:p>
        </p:txBody>
      </p:sp>
      <p:sp>
        <p:nvSpPr>
          <p:cNvPr id="28" name="Text 23"/>
          <p:cNvSpPr>
            <a:spLocks/>
          </p:cNvSpPr>
          <p:nvPr/>
        </p:nvSpPr>
        <p:spPr>
          <a:xfrm rot="0">
            <a:off x="9429750" y="3143250"/>
            <a:ext cx="1870075" cy="686435"/>
          </a:xfrm>
          <a:prstGeom prst="rect"/>
          <a:ln cap="flat" cmpd="sng">
            <a:prstDash/>
          </a:ln>
        </p:spPr>
        <p:txBody>
          <a:bodyPr wrap="non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단일 모델은 Concept Drift 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20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등 데이터 변화에 매우 취약</a:t>
            </a:r>
            <a:endParaRPr lang="ko-KR" altLang="en-US" sz="120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5181600" y="4324350"/>
            <a:ext cx="3009900" cy="22860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191125" y="4333875"/>
            <a:ext cx="29908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pic>
        <p:nvPicPr>
          <p:cNvPr id="31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4648200"/>
            <a:ext cx="171450" cy="1524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52135" y="4600575"/>
            <a:ext cx="947420" cy="24765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돌파</a:t>
            </a:r>
            <a:endParaRPr lang="en-US" sz="1333" dirty="0"/>
          </a:p>
        </p:txBody>
      </p:sp>
      <p:sp>
        <p:nvSpPr>
          <p:cNvPr id="33" name="Text 27"/>
          <p:cNvSpPr/>
          <p:nvPr/>
        </p:nvSpPr>
        <p:spPr>
          <a:xfrm>
            <a:off x="5366385" y="4962525"/>
            <a:ext cx="2844165" cy="238125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앙상블 적용 결과, 단일 최고 모델인</a:t>
            </a:r>
            <a:endParaRPr lang="en-US" sz="1200" dirty="0"/>
          </a:p>
        </p:txBody>
      </p:sp>
      <p:pic>
        <p:nvPicPr>
          <p:cNvPr id="34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5" y="5210175"/>
            <a:ext cx="2457450" cy="2476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66385" y="5457825"/>
            <a:ext cx="1848485" cy="238125"/>
          </a:xfrm>
          <a:prstGeom prst="rect">
            <a:avLst/>
          </a:prstGeom>
          <a:noFill/>
          <a:ln/>
        </p:spPr>
        <p:txBody>
          <a:bodyPr wrap="none" lIns="91440" tIns="0" rIns="91440" bIns="0" rtlCol="0" anchor="ctr"/>
          <a:lstStyle/>
          <a:p>
            <a:pPr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예측 정확도 확보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420100" y="4324350"/>
            <a:ext cx="3009900" cy="22860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29625" y="4333875"/>
            <a:ext cx="29908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pic>
        <p:nvPicPr>
          <p:cNvPr id="38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6325" y="4648200"/>
            <a:ext cx="152400" cy="1524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871585" y="4600575"/>
            <a:ext cx="1125855" cy="24765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선제적 대응</a:t>
            </a:r>
            <a:endParaRPr lang="en-US" sz="1333" dirty="0"/>
          </a:p>
        </p:txBody>
      </p:sp>
      <p:sp>
        <p:nvSpPr>
          <p:cNvPr id="40" name="Text 32"/>
          <p:cNvSpPr/>
          <p:nvPr/>
        </p:nvSpPr>
        <p:spPr>
          <a:xfrm>
            <a:off x="8604885" y="4962525"/>
            <a:ext cx="1974215" cy="238125"/>
          </a:xfrm>
          <a:prstGeom prst="rect">
            <a:avLst/>
          </a:prstGeom>
          <a:noFill/>
          <a:ln/>
        </p:spPr>
        <p:txBody>
          <a:bodyPr wrap="none" lIns="91440" tIns="0" rIns="91440" bIns="0" rtlCol="0" anchor="ctr"/>
          <a:lstStyle/>
          <a:p>
            <a:pPr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VFA/ALK 지표 결합으로</a:t>
            </a:r>
            <a:endParaRPr lang="en-US" sz="1200" dirty="0"/>
          </a:p>
        </p:txBody>
      </p:sp>
      <p:pic>
        <p:nvPicPr>
          <p:cNvPr id="41" name="Image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6325" y="5210175"/>
            <a:ext cx="2457450" cy="2476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604885" y="5457825"/>
            <a:ext cx="2068830" cy="238125"/>
          </a:xfrm>
          <a:prstGeom prst="rect">
            <a:avLst/>
          </a:prstGeom>
          <a:noFill/>
          <a:ln/>
        </p:spPr>
        <p:txBody>
          <a:bodyPr wrap="none" lIns="91440" tIns="0" rIns="91440" bIns="0" rtlCol="0" anchor="ctr"/>
          <a:lstStyle/>
          <a:p>
            <a:pPr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가능, 공정 안정성 극대화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33" dirty="0"/>
          </a:p>
        </p:txBody>
      </p:sp>
      <p:pic>
        <p:nvPicPr>
          <p:cNvPr id="44" name="Image 7" descr="/Users/JinU-Lim/Library/Group Containers/L48J367XN4.com.infraware.PolarisOffice/EngineTemp/35779/s5_image-1-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54650" y="2842895"/>
            <a:ext cx="1772285" cy="991235"/>
          </a:xfrm>
          <a:prstGeom prst="rect"/>
          <a:noFill/>
        </p:spPr>
      </p:pic>
      <p:pic>
        <p:nvPicPr>
          <p:cNvPr id="45" name="Image 8" descr="/Users/JinU-Lim/Library/Group Containers/L48J367XN4.com.infraware.PolarisOffice/EngineTemp/35779/s5_image-1-10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89849" y="2838450"/>
            <a:ext cx="1772285" cy="9912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-8890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33" dirty="0"/>
          </a:p>
        </p:txBody>
      </p:sp>
      <p:sp>
        <p:nvSpPr>
          <p:cNvPr id="12" name="Text 10"/>
          <p:cNvSpPr/>
          <p:nvPr/>
        </p:nvSpPr>
        <p:spPr>
          <a:xfrm>
            <a:off x="670560" y="476250"/>
            <a:ext cx="149288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 algn="ctr">
              <a:spcAft>
                <a:spcPts val="900"/>
              </a:spcAft>
              <a:buFontTx/>
              <a:buNone/>
            </a:pPr>
            <a:r>
              <a:rPr lang="en-US" sz="110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User Interface</a:t>
            </a:r>
            <a:endParaRPr lang="ko-KR" altLang="en-US" sz="110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" y="895350"/>
            <a:ext cx="11918315" cy="572135"/>
          </a:xfrm>
          <a:prstGeom prst="rect">
            <a:avLst/>
          </a:prstGeom>
          <a:ln/>
        </p:spPr>
        <p:txBody>
          <a:bodyPr wrap="none" lIns="91440" tIns="0" rIns="91440" bIns="0" numCol="1" vert="horz" anchor="t">
            <a:spAutoFit/>
          </a:bodyPr>
          <a:lstStyle/>
          <a:p>
            <a:pPr marL="0" indent="0" algn="l">
              <a:lnSpc>
                <a:spcPts val="4500"/>
              </a:lnSpc>
              <a:buFontTx/>
              <a:buNone/>
            </a:pPr>
            <a:r>
              <a:rPr lang="en-US" sz="3600" b="1">
                <a:solidFill>
                  <a:srgbClr val="1A1A2E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BioGuard-AI</a:t>
            </a:r>
            <a:r>
              <a:rPr lang="en-US" sz="36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 신호등 관제 UI</a:t>
            </a:r>
            <a:endParaRPr lang="ko-KR" altLang="en-US" sz="360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1752600"/>
            <a:ext cx="3619500" cy="4762500"/>
          </a:xfrm>
          <a:prstGeom prst="roundRect">
            <a:avLst>
              <a:gd name="adj" fmla="val 1418"/>
            </a:avLst>
          </a:prstGeom>
          <a:solidFill>
            <a:srgbClr val="1A1A2E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525" y="1762125"/>
            <a:ext cx="360045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908685" y="1990725"/>
            <a:ext cx="3641090" cy="1911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6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MONITORING SYSTEM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08685" y="2257425"/>
            <a:ext cx="3641090" cy="6102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173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신호등 기반</a:t>
            </a:r>
            <a:endParaRPr lang="ko-KR" altLang="en-US" sz="173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ts val="2400"/>
              </a:lnSpc>
              <a:spcAft>
                <a:spcPts val="1200"/>
              </a:spcAft>
              <a:buFontTx/>
              <a:buNone/>
            </a:pPr>
            <a:r>
              <a:rPr lang="en-US" sz="173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실시간 관제 환경</a:t>
            </a:r>
            <a:endParaRPr lang="ko-KR" altLang="en-US" sz="173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00125" y="3209925"/>
            <a:ext cx="3143250" cy="419100"/>
          </a:xfrm>
          <a:prstGeom prst="roundRect">
            <a:avLst>
              <a:gd name="adj" fmla="val 19835"/>
            </a:avLst>
          </a:prstGeom>
          <a:solidFill>
            <a:srgbClr val="252545"/>
          </a:solidFill>
          <a:ln/>
        </p:spPr>
      </p:sp>
      <p:sp>
        <p:nvSpPr>
          <p:cNvPr id="19" name="Shape 17"/>
          <p:cNvSpPr>
            <a:spLocks/>
          </p:cNvSpPr>
          <p:nvPr/>
        </p:nvSpPr>
        <p:spPr>
          <a:xfrm rot="0">
            <a:off x="1143000" y="3305175"/>
            <a:ext cx="229235" cy="229235"/>
          </a:xfrm>
          <a:prstGeom prst="ellipse"/>
          <a:solidFill>
            <a:srgbClr val="22C55E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23035" y="3305175"/>
            <a:ext cx="1796415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32760" y="3329305"/>
            <a:ext cx="1146810" cy="1809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dirty="0">
                <a:solidFill>
                  <a:srgbClr val="A0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수율 유지</a:t>
            </a:r>
            <a:endParaRPr lang="en-US" sz="933" dirty="0"/>
          </a:p>
        </p:txBody>
      </p:sp>
      <p:sp>
        <p:nvSpPr>
          <p:cNvPr id="22" name="Shape 20"/>
          <p:cNvSpPr/>
          <p:nvPr/>
        </p:nvSpPr>
        <p:spPr>
          <a:xfrm>
            <a:off x="1000125" y="3743325"/>
            <a:ext cx="3143250" cy="419100"/>
          </a:xfrm>
          <a:prstGeom prst="roundRect">
            <a:avLst>
              <a:gd name="adj" fmla="val 19835"/>
            </a:avLst>
          </a:prstGeom>
          <a:solidFill>
            <a:srgbClr val="25254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3838575"/>
            <a:ext cx="228600" cy="22860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4" name="Text 22"/>
          <p:cNvSpPr/>
          <p:nvPr/>
        </p:nvSpPr>
        <p:spPr>
          <a:xfrm>
            <a:off x="1423035" y="3838575"/>
            <a:ext cx="1922145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47060" y="3862705"/>
            <a:ext cx="1021080" cy="1809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dirty="0">
                <a:solidFill>
                  <a:srgbClr val="A0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변수 변동 감지</a:t>
            </a:r>
            <a:endParaRPr lang="en-US" sz="933" dirty="0"/>
          </a:p>
        </p:txBody>
      </p:sp>
      <p:sp>
        <p:nvSpPr>
          <p:cNvPr id="26" name="Shape 24"/>
          <p:cNvSpPr/>
          <p:nvPr/>
        </p:nvSpPr>
        <p:spPr>
          <a:xfrm>
            <a:off x="1000125" y="4276725"/>
            <a:ext cx="3143250" cy="419100"/>
          </a:xfrm>
          <a:prstGeom prst="roundRect">
            <a:avLst>
              <a:gd name="adj" fmla="val 19835"/>
            </a:avLst>
          </a:prstGeom>
          <a:solidFill>
            <a:srgbClr val="252545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371975"/>
            <a:ext cx="228600" cy="2286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1423035" y="4371975"/>
            <a:ext cx="1796415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32760" y="4396105"/>
            <a:ext cx="1146810" cy="1809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dirty="0">
                <a:solidFill>
                  <a:srgbClr val="A0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최적화 필요</a:t>
            </a:r>
            <a:endParaRPr lang="en-US" sz="933" dirty="0"/>
          </a:p>
        </p:txBody>
      </p:sp>
      <p:sp>
        <p:nvSpPr>
          <p:cNvPr id="30" name="Shape 28"/>
          <p:cNvSpPr/>
          <p:nvPr/>
        </p:nvSpPr>
        <p:spPr>
          <a:xfrm>
            <a:off x="1000125" y="4810125"/>
            <a:ext cx="3143250" cy="419100"/>
          </a:xfrm>
          <a:prstGeom prst="roundRect">
            <a:avLst>
              <a:gd name="adj" fmla="val 19835"/>
            </a:avLst>
          </a:prstGeom>
          <a:solidFill>
            <a:srgbClr val="252545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4905375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1423035" y="4905375"/>
            <a:ext cx="1922145" cy="2286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47060" y="4929505"/>
            <a:ext cx="1021080" cy="1809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dirty="0">
                <a:solidFill>
                  <a:srgbClr val="A0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 대응 단계</a:t>
            </a:r>
            <a:endParaRPr lang="en-US" sz="933" dirty="0"/>
          </a:p>
        </p:txBody>
      </p:sp>
      <p:pic>
        <p:nvPicPr>
          <p:cNvPr id="34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5553075"/>
            <a:ext cx="133350" cy="4572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56335" y="5514975"/>
            <a:ext cx="3368040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산성화 모니터링: 수율 정상 시에도 VFA/알칼리도 비 위험 시 사전 경보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72000" y="1752600"/>
            <a:ext cx="34290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81525" y="1762125"/>
            <a:ext cx="34099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38" name="Text 35"/>
          <p:cNvSpPr/>
          <p:nvPr/>
        </p:nvSpPr>
        <p:spPr>
          <a:xfrm>
            <a:off x="4718685" y="1990725"/>
            <a:ext cx="3431540" cy="3054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FontTx/>
              <a:buNone/>
            </a:pPr>
            <a:r>
              <a:rPr lang="en-US" sz="1465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AI 성능 시각화</a:t>
            </a:r>
            <a:endParaRPr lang="ko-KR" altLang="en-US" sz="1465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9" name="Shape 36"/>
          <p:cNvSpPr>
            <a:spLocks/>
          </p:cNvSpPr>
          <p:nvPr/>
        </p:nvSpPr>
        <p:spPr>
          <a:xfrm rot="0">
            <a:off x="4810125" y="2352675"/>
            <a:ext cx="2953385" cy="1057910"/>
          </a:xfrm>
          <a:prstGeom prst="roundRect">
            <a:avLst>
              <a:gd name="adj" fmla="val 15057"/>
            </a:avLst>
          </a:prstGeom>
          <a:solidFill>
            <a:srgbClr val="F8FAFC"/>
          </a:solidFill>
          <a:ln w="6985" cap="flat" cmpd="sng">
            <a:solidFill>
              <a:srgbClr val="CBD5E1">
                <a:alpha val="100000"/>
              </a:srgbClr>
            </a:solidFill>
            <a:prstDash val="dash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4963160" y="2600325"/>
            <a:ext cx="1190625" cy="381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</p:sp>
      <p:sp>
        <p:nvSpPr>
          <p:cNvPr id="41" name="Shape 38"/>
          <p:cNvSpPr/>
          <p:nvPr/>
        </p:nvSpPr>
        <p:spPr>
          <a:xfrm>
            <a:off x="4963160" y="2752725"/>
            <a:ext cx="1190625" cy="22860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/>
        </p:spPr>
      </p:sp>
      <p:sp>
        <p:nvSpPr>
          <p:cNvPr id="42" name="Text 39"/>
          <p:cNvSpPr/>
          <p:nvPr/>
        </p:nvSpPr>
        <p:spPr>
          <a:xfrm>
            <a:off x="4871085" y="2409825"/>
            <a:ext cx="822325" cy="153035"/>
          </a:xfrm>
          <a:prstGeom prst="rect">
            <a:avLst/>
          </a:prstGeom>
          <a:ln/>
        </p:spPr>
        <p:txBody>
          <a:bodyPr wrap="none" lIns="91440" tIns="0" rIns="91440" bIns="0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800" b="1">
                <a:solidFill>
                  <a:srgbClr val="1A1A2E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Persistence</a:t>
            </a:r>
            <a:endParaRPr lang="ko-KR" altLang="en-US" sz="800" b="1">
              <a:solidFill>
                <a:srgbClr val="1A1A2E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419215" y="2600325"/>
            <a:ext cx="1190625" cy="38100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/>
        </p:spPr>
      </p:sp>
      <p:sp>
        <p:nvSpPr>
          <p:cNvPr id="44" name="Shape 41"/>
          <p:cNvSpPr/>
          <p:nvPr/>
        </p:nvSpPr>
        <p:spPr>
          <a:xfrm>
            <a:off x="6419215" y="2619375"/>
            <a:ext cx="1190625" cy="361950"/>
          </a:xfrm>
          <a:prstGeom prst="roundRect">
            <a:avLst>
              <a:gd name="adj" fmla="val 8864"/>
            </a:avLst>
          </a:prstGeom>
          <a:solidFill>
            <a:srgbClr val="4ECDC4"/>
          </a:solidFill>
          <a:ln/>
        </p:spPr>
      </p:sp>
      <p:sp>
        <p:nvSpPr>
          <p:cNvPr id="45" name="Text 42"/>
          <p:cNvSpPr/>
          <p:nvPr/>
        </p:nvSpPr>
        <p:spPr>
          <a:xfrm>
            <a:off x="6327775" y="2409825"/>
            <a:ext cx="1063625" cy="153035"/>
          </a:xfrm>
          <a:prstGeom prst="rect">
            <a:avLst/>
          </a:prstGeom>
          <a:ln/>
        </p:spPr>
        <p:txBody>
          <a:bodyPr wrap="none" lIns="91440" tIns="0" rIns="91440" bIns="0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lang="en-US" sz="800" b="1">
                <a:solidFill>
                  <a:srgbClr val="00897B"/>
                </a:solidFill>
                <a:latin typeface="Pretendard" charset="0"/>
                <a:ea typeface="Pretendard" charset="0"/>
                <a:cs typeface="Pretendard" charset="0"/>
              </a:rPr>
              <a:t>BioGuard </a:t>
            </a:r>
            <a:endParaRPr lang="ko-KR" altLang="en-US" sz="800" b="1">
              <a:solidFill>
                <a:srgbClr val="00897B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871085" y="3076575"/>
            <a:ext cx="3095625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모델 대비 오차(MAE) 획기적 개선</a:t>
            </a:r>
            <a:endParaRPr lang="en-US" sz="933" dirty="0"/>
          </a:p>
        </p:txBody>
      </p:sp>
      <p:sp>
        <p:nvSpPr>
          <p:cNvPr id="47" name="Text 44"/>
          <p:cNvSpPr>
            <a:spLocks/>
          </p:cNvSpPr>
          <p:nvPr/>
        </p:nvSpPr>
        <p:spPr>
          <a:xfrm rot="0">
            <a:off x="5919470" y="3521075"/>
            <a:ext cx="1618615" cy="181610"/>
          </a:xfrm>
          <a:prstGeom prst="rect"/>
          <a:ln cap="flat" cmpd="sng">
            <a:prstDash/>
          </a:ln>
        </p:spPr>
        <p:txBody>
          <a:bodyPr wrap="non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300"/>
              </a:spcAft>
              <a:buFontTx/>
              <a:buNone/>
            </a:pPr>
            <a:r>
              <a:rPr lang="en-US" sz="800" b="1">
                <a:solidFill>
                  <a:srgbClr val="64748B"/>
                </a:solidFill>
                <a:latin typeface="Pretendard" charset="0"/>
                <a:ea typeface="Pretendard" charset="0"/>
                <a:cs typeface="Pretendard" charset="0"/>
              </a:rPr>
              <a:t>RELIABILITY</a:t>
            </a:r>
            <a:endParaRPr lang="ko-KR" altLang="en-US" sz="800" b="1">
              <a:solidFill>
                <a:srgbClr val="64748B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8" name="Text 45"/>
          <p:cNvSpPr>
            <a:spLocks/>
          </p:cNvSpPr>
          <p:nvPr/>
        </p:nvSpPr>
        <p:spPr>
          <a:xfrm rot="0">
            <a:off x="5919470" y="3481705"/>
            <a:ext cx="749300" cy="511175"/>
          </a:xfrm>
          <a:prstGeom prst="roundRect"/>
          <a:ln cap="flat" cmpd="sng">
            <a:solidFill>
              <a:schemeClr val="bg2">
                <a:lumMod val="90000"/>
                <a:lumOff val="0"/>
                <a:alpha val="100000"/>
              </a:schemeClr>
            </a:solidFill>
            <a:prstDash val="solid"/>
          </a:ln>
        </p:spPr>
        <p:txBody>
          <a:bodyPr wrap="none" lIns="91440" tIns="0" rIns="91440" bIns="0" numCol="1" vert="horz" anchor="b">
            <a:noAutofit/>
          </a:bodyPr>
          <a:lstStyle/>
          <a:p>
            <a:pPr marL="0" indent="0" algn="l">
              <a:buFontTx/>
              <a:buNone/>
            </a:pPr>
            <a:r>
              <a:rPr lang="en-US" sz="22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83</a:t>
            </a:r>
            <a:r>
              <a:rPr lang="en-US" sz="220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%</a:t>
            </a:r>
            <a:endParaRPr lang="ko-KR" altLang="en-US" sz="120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9" name="Shape 46"/>
          <p:cNvSpPr>
            <a:spLocks/>
          </p:cNvSpPr>
          <p:nvPr/>
        </p:nvSpPr>
        <p:spPr>
          <a:xfrm rot="0">
            <a:off x="6305550" y="3597275"/>
            <a:ext cx="1457960" cy="657860"/>
          </a:xfrm>
          <a:prstGeom prst="rect"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8191500" y="1752600"/>
            <a:ext cx="32385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201025" y="1762125"/>
            <a:ext cx="32194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54" name="Text 51"/>
          <p:cNvSpPr/>
          <p:nvPr/>
        </p:nvSpPr>
        <p:spPr>
          <a:xfrm>
            <a:off x="8338185" y="1990725"/>
            <a:ext cx="3221355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467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가이드라인 제안</a:t>
            </a:r>
            <a:endParaRPr lang="en-US" sz="1467" dirty="0"/>
          </a:p>
        </p:txBody>
      </p:sp>
      <p:pic>
        <p:nvPicPr>
          <p:cNvPr id="55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2486025"/>
            <a:ext cx="152400" cy="45720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8604885" y="2447925"/>
            <a:ext cx="2927985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및 단기 추세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생산량 변화 선제적 예측</a:t>
            </a:r>
            <a:endParaRPr lang="en-US" sz="1200" dirty="0"/>
          </a:p>
        </p:txBody>
      </p:sp>
      <p:pic>
        <p:nvPicPr>
          <p:cNvPr id="57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3114675"/>
            <a:ext cx="171450" cy="45720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8623935" y="3076575"/>
            <a:ext cx="2907030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1951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운전 범위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 수율을 위한 인자 조절 제안</a:t>
            </a:r>
            <a:endParaRPr lang="en-US" sz="1200" dirty="0"/>
          </a:p>
        </p:txBody>
      </p:sp>
      <p:sp>
        <p:nvSpPr>
          <p:cNvPr id="59" name="Shape 54"/>
          <p:cNvSpPr>
            <a:spLocks/>
          </p:cNvSpPr>
          <p:nvPr/>
        </p:nvSpPr>
        <p:spPr>
          <a:xfrm rot="0">
            <a:off x="8429625" y="3575050"/>
            <a:ext cx="2762885" cy="419735"/>
          </a:xfrm>
          <a:prstGeom prst="roundRect">
            <a:avLst>
              <a:gd name="adj" fmla="val 16529"/>
            </a:avLst>
          </a:prstGeom>
          <a:solidFill>
            <a:srgbClr val="F1F5F9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60" name="Image 3" descr="/Users/JinU-Lim/Library/Group Containers/L48J367XN4.com.infraware.PolarisOffice/EngineTemp/35779/s6_image-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543925" y="3709670"/>
            <a:ext cx="133985" cy="133985"/>
          </a:xfrm>
          <a:prstGeom prst="rect"/>
          <a:noFill/>
        </p:spPr>
      </p:pic>
      <p:sp>
        <p:nvSpPr>
          <p:cNvPr id="61" name="Text 55"/>
          <p:cNvSpPr>
            <a:spLocks/>
          </p:cNvSpPr>
          <p:nvPr/>
        </p:nvSpPr>
        <p:spPr>
          <a:xfrm rot="0">
            <a:off x="8651875" y="3689350"/>
            <a:ext cx="1985645" cy="191135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930">
                <a:solidFill>
                  <a:srgbClr val="475569"/>
                </a:solidFill>
                <a:highlight>
                  <a:srgbClr val="F1F5F9"/>
                </a:highlight>
                <a:latin typeface="Pretendard" charset="0"/>
                <a:ea typeface="Pretendard" charset="0"/>
                <a:cs typeface="Pretendard" charset="0"/>
              </a:rPr>
              <a:t>운영자의 즉각적인 대응 지원</a:t>
            </a:r>
            <a:endParaRPr lang="ko-KR" altLang="en-US" sz="9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2" name="Shape 56"/>
          <p:cNvSpPr>
            <a:spLocks/>
          </p:cNvSpPr>
          <p:nvPr/>
        </p:nvSpPr>
        <p:spPr>
          <a:xfrm rot="0">
            <a:off x="4572000" y="4866640"/>
            <a:ext cx="6858635" cy="72644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cap="flat" cmpd="sng">
            <a:prstDash/>
          </a:ln>
          <a:effectLst>
            <a:outerShdw sx="100000" sy="100000" blurRad="142875" dist="28575" dir="5400000" rotWithShape="0" algn="bl">
              <a:srgbClr val="1A1A2E">
                <a:alpha val="3921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3" name="Shape 57"/>
          <p:cNvSpPr/>
          <p:nvPr/>
        </p:nvSpPr>
        <p:spPr>
          <a:xfrm>
            <a:off x="4572000" y="4229100"/>
            <a:ext cx="68580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64" name="Shape 58"/>
          <p:cNvSpPr>
            <a:spLocks/>
          </p:cNvSpPr>
          <p:nvPr/>
        </p:nvSpPr>
        <p:spPr>
          <a:xfrm rot="0">
            <a:off x="4800600" y="5018405"/>
            <a:ext cx="476885" cy="476885"/>
          </a:xfrm>
          <a:prstGeom prst="roundRect">
            <a:avLst>
              <a:gd name="adj" fmla="val 15360"/>
            </a:avLst>
          </a:prstGeom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65" name="Image 4" descr="/Users/JinU-Lim/Library/Group Containers/L48J367XN4.com.infraware.PolarisOffice/EngineTemp/35779/s6_image-1-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43475" y="5133975"/>
            <a:ext cx="191135" cy="191135"/>
          </a:xfrm>
          <a:prstGeom prst="rect"/>
          <a:noFill/>
        </p:spPr>
      </p:pic>
      <p:sp>
        <p:nvSpPr>
          <p:cNvPr id="66" name="Text 59"/>
          <p:cNvSpPr>
            <a:spLocks/>
          </p:cNvSpPr>
          <p:nvPr/>
        </p:nvSpPr>
        <p:spPr>
          <a:xfrm rot="0">
            <a:off x="5375910" y="5013325"/>
            <a:ext cx="6490970" cy="248284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133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데이터 기반의 객관적 의사결정 체계 구축</a:t>
            </a:r>
            <a:endParaRPr lang="ko-KR" altLang="en-US" sz="133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7" name="Text 60"/>
          <p:cNvSpPr>
            <a:spLocks/>
          </p:cNvSpPr>
          <p:nvPr/>
        </p:nvSpPr>
        <p:spPr>
          <a:xfrm rot="0">
            <a:off x="5375910" y="5299075"/>
            <a:ext cx="6490970" cy="200660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Bef>
                <a:spcPts val="300"/>
              </a:spcBef>
              <a:buFontTx/>
              <a:buNone/>
            </a:pPr>
            <a:r>
              <a:rPr lang="en-US" sz="1065">
                <a:solidFill>
                  <a:srgbClr val="64748B"/>
                </a:solidFill>
                <a:latin typeface="Pretendard" charset="0"/>
                <a:ea typeface="Pretendard" charset="0"/>
                <a:cs typeface="Pretendard" charset="0"/>
              </a:rPr>
              <a:t>단순 모니터링을 넘어, AI가 제안하는 가이드라인을 통해 공정의 안정성을 극대화합니다.</a:t>
            </a:r>
            <a:endParaRPr lang="ko-KR" altLang="en-US" sz="1065">
              <a:solidFill>
                <a:srgbClr val="64748B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 rot="0">
            <a:off x="0" y="-9525"/>
            <a:ext cx="12192635" cy="685863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33" dirty="0"/>
          </a:p>
        </p:txBody>
      </p:sp>
      <p:sp>
        <p:nvSpPr>
          <p:cNvPr id="7" name="Text 5"/>
          <p:cNvSpPr/>
          <p:nvPr/>
        </p:nvSpPr>
        <p:spPr>
          <a:xfrm>
            <a:off x="668655" y="476250"/>
            <a:ext cx="2540635" cy="305435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lIns="91440" tIns="0" rIns="91440" bIns="0" numCol="1" vert="horz" anchor="ctr">
            <a:normAutofit fontScale="100000" lnSpcReduction="0"/>
          </a:bodyPr>
          <a:lstStyle/>
          <a:p>
            <a:pPr marL="0" indent="0" algn="ctr">
              <a:spcAft>
                <a:spcPts val="900"/>
              </a:spcAft>
              <a:buFontTx/>
              <a:buNone/>
            </a:pPr>
            <a:r>
              <a:rPr lang="en-US" sz="930" b="1">
                <a:solidFill>
                  <a:srgbClr val="4ECDC4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CONCLUSION &amp; FUTURE</a:t>
            </a:r>
            <a:endParaRPr lang="ko-KR" altLang="en-US" sz="930" b="1">
              <a:solidFill>
                <a:srgbClr val="4ECDC4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60" y="895350"/>
            <a:ext cx="11917680" cy="5715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기대효과 및 활용방안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752600"/>
            <a:ext cx="6819900" cy="1714500"/>
          </a:xfrm>
          <a:prstGeom prst="roundRect">
            <a:avLst>
              <a:gd name="adj" fmla="val 632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2000" y="1752600"/>
            <a:ext cx="68199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148205"/>
            <a:ext cx="6847205" cy="18161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751"/>
              </a:spcAft>
              <a:buFontTx/>
              <a:buNone/>
            </a:pPr>
            <a:r>
              <a:rPr lang="en-US" sz="930" b="1">
                <a:solidFill>
                  <a:schemeClr val="bg1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CORE VALUE</a:t>
            </a:r>
            <a:endParaRPr lang="ko-KR" altLang="en-US" sz="930" b="1">
              <a:solidFill>
                <a:schemeClr val="bg1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2423795"/>
            <a:ext cx="6846570" cy="3048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BioGuard-AI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2804795"/>
            <a:ext cx="6846570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환경기초시설의 새로운 스마트 표준을 제시합니다.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0500" y="1752600"/>
            <a:ext cx="3619500" cy="4229100"/>
          </a:xfrm>
          <a:prstGeom prst="roundRect">
            <a:avLst>
              <a:gd name="adj" fmla="val 1418"/>
            </a:avLst>
          </a:prstGeom>
          <a:solidFill>
            <a:srgbClr val="F1F5F9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20025" y="1762125"/>
            <a:ext cx="360045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6725" y="2028825"/>
            <a:ext cx="495300" cy="495300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438" dist="28575" dir="5400000">
              <a:srgbClr val="000000">
                <a:alpha val="5000"/>
              </a:srgbClr>
            </a:outerShdw>
          </a:effectLst>
        </p:spPr>
      </p:sp>
      <p:pic>
        <p:nvPicPr>
          <p:cNvPr id="17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0" y="2162175"/>
            <a:ext cx="28575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95285" y="2714625"/>
            <a:ext cx="3557270" cy="18161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751"/>
              </a:spcAft>
              <a:buFontTx/>
              <a:buNone/>
            </a:pPr>
            <a:r>
              <a:rPr lang="en-US" sz="930" b="1">
                <a:solidFill>
                  <a:srgbClr val="94A3B8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SCALABILITY</a:t>
            </a:r>
            <a:endParaRPr lang="ko-KR" altLang="en-US" sz="930" b="1">
              <a:solidFill>
                <a:srgbClr val="94A3B8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19" name="Text 16"/>
          <p:cNvSpPr>
            <a:spLocks/>
          </p:cNvSpPr>
          <p:nvPr/>
        </p:nvSpPr>
        <p:spPr>
          <a:xfrm rot="0">
            <a:off x="7995285" y="3221990"/>
            <a:ext cx="3557270" cy="305435"/>
          </a:xfrm>
          <a:prstGeom prst="rect"/>
          <a:ln cap="flat" cmpd="sng">
            <a:prstDash/>
          </a:ln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2400"/>
              </a:lnSpc>
              <a:spcAft>
                <a:spcPts val="1051"/>
              </a:spcAft>
              <a:buFontTx/>
              <a:buNone/>
            </a:pPr>
            <a:r>
              <a:rPr lang="en-US" sz="173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스마트 확장성</a:t>
            </a:r>
            <a:endParaRPr lang="ko-KR" altLang="en-US" sz="173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Text 17"/>
          <p:cNvSpPr>
            <a:spLocks/>
          </p:cNvSpPr>
          <p:nvPr/>
        </p:nvSpPr>
        <p:spPr>
          <a:xfrm rot="0">
            <a:off x="7995285" y="3669665"/>
            <a:ext cx="1943735" cy="248284"/>
          </a:xfrm>
          <a:prstGeom prst="rect"/>
          <a:noFill/>
          <a:ln cap="flat" cmpd="sng">
            <a:prstDash/>
          </a:ln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충청 지역을 넘어 전국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1" name="Image 1" descr="/Users/JinU-Lim/Library/Group Containers/L48J367XN4.com.infraware.PolarisOffice/EngineTemp/35779/s7_image-1-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86725" y="3926840"/>
            <a:ext cx="3067685" cy="267335"/>
          </a:xfrm>
          <a:prstGeom prst="rect"/>
          <a:noFill/>
        </p:spPr>
      </p:pic>
      <p:sp>
        <p:nvSpPr>
          <p:cNvPr id="22" name="Text 18"/>
          <p:cNvSpPr>
            <a:spLocks/>
          </p:cNvSpPr>
          <p:nvPr/>
        </p:nvSpPr>
        <p:spPr>
          <a:xfrm rot="0">
            <a:off x="7995285" y="4203065"/>
            <a:ext cx="3117215" cy="248284"/>
          </a:xfrm>
          <a:prstGeom prst="rect"/>
          <a:noFill/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모델로 표준화 및 확장이 가능합니다.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62000" y="3695700"/>
            <a:ext cx="329565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71525" y="3705225"/>
            <a:ext cx="3276600" cy="38100"/>
          </a:xfrm>
          <a:prstGeom prst="roundRect">
            <a:avLst>
              <a:gd name="adj" fmla="val 400000"/>
            </a:avLst>
          </a:prstGeom>
          <a:solidFill>
            <a:srgbClr val="4ECDC4"/>
          </a:solidFill>
          <a:ln/>
        </p:spPr>
      </p:sp>
      <p:sp>
        <p:nvSpPr>
          <p:cNvPr id="25" name="Shape 21"/>
          <p:cNvSpPr/>
          <p:nvPr/>
        </p:nvSpPr>
        <p:spPr>
          <a:xfrm>
            <a:off x="1038225" y="3971925"/>
            <a:ext cx="495300" cy="495300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438" dist="28575" dir="5400000">
              <a:srgbClr val="000000">
                <a:alpha val="5000"/>
              </a:srgbClr>
            </a:outerShdw>
          </a:effectLst>
        </p:spPr>
      </p:sp>
      <p:pic>
        <p:nvPicPr>
          <p:cNvPr id="26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4105275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32585" y="3971925"/>
            <a:ext cx="2446655" cy="18161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751"/>
              </a:spcAft>
              <a:buFontTx/>
              <a:buNone/>
            </a:pPr>
            <a:r>
              <a:rPr lang="en-US" sz="930" b="1">
                <a:solidFill>
                  <a:srgbClr val="94A3B8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ECONOMIC</a:t>
            </a:r>
            <a:endParaRPr lang="ko-KR" altLang="en-US" sz="930" b="1">
              <a:solidFill>
                <a:srgbClr val="94A3B8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632585" y="4248150"/>
            <a:ext cx="2446655" cy="305435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Autofit/>
          </a:bodyPr>
          <a:lstStyle/>
          <a:p>
            <a:pPr marL="0" indent="0" algn="l">
              <a:lnSpc>
                <a:spcPts val="2400"/>
              </a:lnSpc>
              <a:spcAft>
                <a:spcPts val="1051"/>
              </a:spcAft>
              <a:buFontTx/>
              <a:buNone/>
            </a:pPr>
            <a:r>
              <a:rPr lang="en-US" sz="173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경제적</a:t>
            </a:r>
            <a:r>
              <a:rPr lang="en-US" sz="1730" b="1">
                <a:solidFill>
                  <a:srgbClr val="1A1A2E"/>
                </a:solidFill>
                <a:latin typeface="Pretendard" charset="0"/>
                <a:ea typeface="Pretendard" charset="0"/>
                <a:cs typeface="Pretendard" charset="0"/>
              </a:rPr>
              <a:t> 효과</a:t>
            </a:r>
            <a:endParaRPr lang="ko-KR" altLang="en-US" sz="1730" b="1">
              <a:solidFill>
                <a:srgbClr val="1A1A2E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1632585" y="4695825"/>
            <a:ext cx="1304290" cy="248284"/>
          </a:xfrm>
          <a:prstGeom prst="rect">
            <a:avLst/>
          </a:prstGeom>
          <a:noFill/>
          <a:ln/>
        </p:spPr>
        <p:txBody>
          <a:bodyPr wrap="non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buFontTx/>
              <a:buNone/>
            </a:pP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0" name="Image 3" descr="/Users/JinU-Lim/Library/Group Containers/L48J367XN4.com.infraware.PolarisOffice/EngineTemp/35779/s7_image-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96720" y="4637405"/>
            <a:ext cx="1915160" cy="514985"/>
          </a:xfrm>
          <a:prstGeom prst="rect"/>
          <a:noFill/>
        </p:spPr>
      </p:pic>
      <p:sp>
        <p:nvSpPr>
          <p:cNvPr id="31" name="Text 25"/>
          <p:cNvSpPr>
            <a:spLocks/>
          </p:cNvSpPr>
          <p:nvPr/>
        </p:nvSpPr>
        <p:spPr>
          <a:xfrm rot="0">
            <a:off x="1605280" y="5161280"/>
            <a:ext cx="2352040" cy="514985"/>
          </a:xfrm>
          <a:prstGeom prst="rect"/>
          <a:noFill/>
          <a:ln cap="flat" cmpd="sng">
            <a:prstDash/>
          </a:ln>
        </p:spPr>
        <p:txBody>
          <a:bodyPr wrap="square" lIns="91440" tIns="0" rIns="91440" bIns="0" numCol="1" vert="horz" anchor="ctr">
            <a:noAutofit/>
          </a:bodyPr>
          <a:lstStyle/>
          <a:p>
            <a:pPr marL="0" indent="0">
              <a:lnSpc>
                <a:spcPts val="2100"/>
              </a:lnSpc>
              <a:buFontTx/>
              <a:buNone/>
            </a:pPr>
            <a:r>
              <a:rPr lang="en-US" sz="1330">
                <a:solidFill>
                  <a:srgbClr val="475569"/>
                </a:solidFill>
                <a:latin typeface="Pretendard" charset="0"/>
                <a:ea typeface="Pretendard" charset="0"/>
                <a:cs typeface="Pretendard" charset="0"/>
              </a:rPr>
              <a:t>하여 시스템 도입 비용을 최소화합니다.</a:t>
            </a:r>
            <a:endParaRPr lang="ko-KR" altLang="en-US" sz="1330">
              <a:solidFill>
                <a:srgbClr val="475569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286250" y="3695700"/>
            <a:ext cx="329565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142875" dist="28575" dir="5400000">
              <a:srgbClr val="1A1A2E">
                <a:alpha val="4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95775" y="3705225"/>
            <a:ext cx="3276600" cy="381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/>
        </p:spPr>
      </p:sp>
      <p:sp>
        <p:nvSpPr>
          <p:cNvPr id="34" name="Shape 28"/>
          <p:cNvSpPr/>
          <p:nvPr/>
        </p:nvSpPr>
        <p:spPr>
          <a:xfrm>
            <a:off x="4562475" y="3971925"/>
            <a:ext cx="495300" cy="495300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438" dist="28575" dir="5400000">
              <a:srgbClr val="000000">
                <a:alpha val="5000"/>
              </a:srgbClr>
            </a:outerShdw>
          </a:effectLst>
        </p:spPr>
      </p:sp>
      <p:pic>
        <p:nvPicPr>
          <p:cNvPr id="35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4105275"/>
            <a:ext cx="285750" cy="2286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56835" y="3971925"/>
            <a:ext cx="2446655" cy="181610"/>
          </a:xfrm>
          <a:prstGeom prst="rect">
            <a:avLst/>
          </a:prstGeom>
          <a:ln/>
        </p:spPr>
        <p:txBody>
          <a:bodyPr wrap="square" lIns="91440" tIns="0" rIns="91440" bIns="0" numCol="1" vert="horz" anchor="t">
            <a:normAutofit fontScale="100000" lnSpcReduction="0"/>
          </a:bodyPr>
          <a:lstStyle/>
          <a:p>
            <a:pPr marL="0" indent="0" algn="l">
              <a:spcAft>
                <a:spcPts val="751"/>
              </a:spcAft>
              <a:buFontTx/>
              <a:buNone/>
            </a:pPr>
            <a:r>
              <a:rPr lang="en-US" sz="930" b="1">
                <a:solidFill>
                  <a:srgbClr val="94A3B8"/>
                </a:solidFill>
                <a:latin typeface="프리젠테이션 9 Black" charset="0"/>
                <a:ea typeface="프리젠테이션 9 Black" charset="0"/>
                <a:cs typeface="Pretendard" charset="0"/>
              </a:rPr>
              <a:t>OPERATION</a:t>
            </a:r>
            <a:endParaRPr lang="ko-KR" altLang="en-US" sz="930" b="1">
              <a:solidFill>
                <a:srgbClr val="94A3B8"/>
              </a:solidFill>
              <a:latin typeface="프리젠테이션 9 Black" charset="0"/>
              <a:ea typeface="프리젠테이션 9 Black" charset="0"/>
              <a:cs typeface="Pretendard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156835" y="4248150"/>
            <a:ext cx="2446020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algn="l" indent="0" marL="0">
              <a:lnSpc>
                <a:spcPts val="2400"/>
              </a:lnSpc>
              <a:spcAft>
                <a:spcPts val="1051"/>
              </a:spcAft>
              <a:buNone/>
            </a:pPr>
            <a:r>
              <a:rPr lang="en-US" sz="1733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고도화</a:t>
            </a:r>
            <a:endParaRPr lang="en-US" sz="1733" dirty="0"/>
          </a:p>
        </p:txBody>
      </p:sp>
      <p:pic>
        <p:nvPicPr>
          <p:cNvPr id="38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5" y="4686300"/>
            <a:ext cx="1552575" cy="2476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56835" y="4943475"/>
            <a:ext cx="2351405" cy="51435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운영 효율을 높이고 리스크를 방지합니다.</a:t>
            </a:r>
            <a:endParaRPr lang="en-US" sz="1333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8F74"/>
                </a:solidFill>
                <a:latin typeface="Pretendard"/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0467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Pretendard"/>
              </a:rPr>
              <a:t>BioGuard-AI 관제 대시보드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1691639"/>
            <a:ext cx="6120296" cy="4617720"/>
          </a:xfrm>
          <a:prstGeom prst="roundRect">
            <a:avLst/>
          </a:prstGeom>
          <a:solidFill>
            <a:srgbClr val="0C1413"/>
          </a:solidFill>
          <a:ln w="12700">
            <a:solidFill>
              <a:srgbClr val="243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02885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73368"/>
            <a:ext cx="6028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A6A7A"/>
                </a:solidFill>
                <a:latin typeface="Pretendard"/>
              </a:rPr>
              <a:t>실제 2023년 홀드아웃 예측으로 렌더링 — 메탄생성량 + VFA/알칼리도 건강 신호등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1856" y="1828800"/>
            <a:ext cx="64008" cy="859536"/>
          </a:xfrm>
          <a:prstGeom prst="roundRect">
            <a:avLst/>
          </a:prstGeom>
          <a:solidFill>
            <a:srgbClr val="1C8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3024" y="1828800"/>
            <a:ext cx="42672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Pretendard"/>
              </a:rPr>
              <a:t>🟢  신호등 건강 관제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3024" y="2212848"/>
            <a:ext cx="426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6A7A"/>
                </a:solidFill>
                <a:latin typeface="Pretendard"/>
              </a:rPr>
              <a:t>VFA/알칼리도 기반 4단계(안정·주의·불안정·위험) 실시간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1856" y="2852928"/>
            <a:ext cx="64008" cy="859536"/>
          </a:xfrm>
          <a:prstGeom prst="roundRect">
            <a:avLst/>
          </a:prstGeom>
          <a:solidFill>
            <a:srgbClr val="1C8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3024" y="2852928"/>
            <a:ext cx="42672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Pretendard"/>
              </a:rPr>
              <a:t>📈  메탄생성량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3024" y="3236976"/>
            <a:ext cx="426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6A7A"/>
                </a:solidFill>
                <a:latin typeface="Pretendard"/>
              </a:rPr>
              <a:t>과거 부하 이력·소화조 상태로 당일 생성량을 추정, 실측 추종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1856" y="3877056"/>
            <a:ext cx="64008" cy="859536"/>
          </a:xfrm>
          <a:prstGeom prst="roundRect">
            <a:avLst/>
          </a:prstGeom>
          <a:solidFill>
            <a:srgbClr val="1C8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3024" y="3877056"/>
            <a:ext cx="42672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Pretendard"/>
              </a:rPr>
              <a:t>🧪  산성화 조기경보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3024" y="4261104"/>
            <a:ext cx="426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6A7A"/>
                </a:solidFill>
                <a:latin typeface="Pretendard"/>
              </a:rPr>
              <a:t>수율이 정상이어도 완충능 소진(VFA/ALK↑) 시 사전 경보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1856" y="4901184"/>
            <a:ext cx="64008" cy="859536"/>
          </a:xfrm>
          <a:prstGeom prst="roundRect">
            <a:avLst/>
          </a:prstGeom>
          <a:solidFill>
            <a:srgbClr val="1C8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3024" y="4901184"/>
            <a:ext cx="42672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Pretendard"/>
              </a:rPr>
              <a:t>⚙️  AI 운전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3024" y="5285232"/>
            <a:ext cx="426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6A7A"/>
                </a:solidFill>
                <a:latin typeface="Pretendard"/>
              </a:rPr>
              <a:t>과부하 회피 위한 유기물부하율·투입 조절 범위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1856" y="5943600"/>
            <a:ext cx="4468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C8F74"/>
                </a:solidFill>
                <a:latin typeface="Pretendard"/>
              </a:rPr>
              <a:t>Base: RF·MLP·LSTM·Transformer + NNLS 비음수 스태킹</a:t>
            </a:r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po_user</cp:lastModifiedBy>
  <dc:title>PptxGenJS Presentation</dc:title>
  <dc:subject>PptxGenJS Presentation</dc:subject>
  <dcterms:modified xsi:type="dcterms:W3CDTF">2026-07-15T08:48:33Z</dcterms:modified>
</cp:coreProperties>
</file>